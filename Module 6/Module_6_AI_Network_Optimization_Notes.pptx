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x="7772400" cy="10058400"/>
  <p:notesSz cx="7772400" cy="10058400"/>
  <p:embeddedFontLst>
    <p:embeddedFont>
      <p:font typeface="IHCODI+Calibri Bold"/>
      <p:regular r:id="rId56"/>
    </p:embeddedFont>
    <p:embeddedFont>
      <p:font typeface="WGDGWK+Cambria"/>
      <p:regular r:id="rId57"/>
    </p:embeddedFont>
    <p:embeddedFont>
      <p:font typeface="IHCODI+Calibri Bold"/>
      <p:regular r:id="rId58"/>
    </p:embeddedFont>
    <p:embeddedFont>
      <p:font typeface="NGOPOW+Cambria Bold"/>
      <p:regular r:id="rId59"/>
    </p:embeddedFont>
    <p:embeddedFont>
      <p:font typeface="MENVHP+Cambria"/>
      <p:regular r:id="rId60"/>
    </p:embeddedFont>
    <p:embeddedFont>
      <p:font typeface="BTNVWP+Cambria Bold"/>
      <p:regular r:id="rId61"/>
    </p:embeddedFont>
    <p:embeddedFont>
      <p:font typeface="BLUCWF+Courier New"/>
      <p:regular r:id="rId62"/>
    </p:embeddedFont>
    <p:embeddedFont>
      <p:font typeface="JVJOSC+Symbol"/>
      <p:regular r:id="rId63"/>
    </p:embeddedFont>
    <p:embeddedFont>
      <p:font typeface="KUEBFO+Wingdings"/>
      <p:regular r:id="rId6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18" Type="http://schemas.openxmlformats.org/officeDocument/2006/relationships/slide" Target="slides/slide13.xml" /><Relationship Id="rId19" Type="http://schemas.openxmlformats.org/officeDocument/2006/relationships/slide" Target="slides/slide14.xml" /><Relationship Id="rId2" Type="http://schemas.openxmlformats.org/officeDocument/2006/relationships/tableStyles" Target="tableStyles.xml" /><Relationship Id="rId20" Type="http://schemas.openxmlformats.org/officeDocument/2006/relationships/slide" Target="slides/slide15.xml" /><Relationship Id="rId21" Type="http://schemas.openxmlformats.org/officeDocument/2006/relationships/slide" Target="slides/slide16.xml" /><Relationship Id="rId22" Type="http://schemas.openxmlformats.org/officeDocument/2006/relationships/slide" Target="slides/slide17.xml" /><Relationship Id="rId23" Type="http://schemas.openxmlformats.org/officeDocument/2006/relationships/slide" Target="slides/slide18.xml" /><Relationship Id="rId24" Type="http://schemas.openxmlformats.org/officeDocument/2006/relationships/slide" Target="slides/slide19.xml" /><Relationship Id="rId25" Type="http://schemas.openxmlformats.org/officeDocument/2006/relationships/slide" Target="slides/slide20.xml" /><Relationship Id="rId26" Type="http://schemas.openxmlformats.org/officeDocument/2006/relationships/slide" Target="slides/slide21.xml" /><Relationship Id="rId27" Type="http://schemas.openxmlformats.org/officeDocument/2006/relationships/slide" Target="slides/slide22.xml" /><Relationship Id="rId28" Type="http://schemas.openxmlformats.org/officeDocument/2006/relationships/slide" Target="slides/slide23.xml" /><Relationship Id="rId29" Type="http://schemas.openxmlformats.org/officeDocument/2006/relationships/slide" Target="slides/slide24.xml" /><Relationship Id="rId3" Type="http://schemas.openxmlformats.org/officeDocument/2006/relationships/viewProps" Target="viewProps.xml" /><Relationship Id="rId30" Type="http://schemas.openxmlformats.org/officeDocument/2006/relationships/slide" Target="slides/slide25.xml" /><Relationship Id="rId31" Type="http://schemas.openxmlformats.org/officeDocument/2006/relationships/slide" Target="slides/slide26.xml" /><Relationship Id="rId32" Type="http://schemas.openxmlformats.org/officeDocument/2006/relationships/slide" Target="slides/slide27.xml" /><Relationship Id="rId33" Type="http://schemas.openxmlformats.org/officeDocument/2006/relationships/slide" Target="slides/slide28.xml" /><Relationship Id="rId34" Type="http://schemas.openxmlformats.org/officeDocument/2006/relationships/slide" Target="slides/slide29.xml" /><Relationship Id="rId35" Type="http://schemas.openxmlformats.org/officeDocument/2006/relationships/slide" Target="slides/slide30.xml" /><Relationship Id="rId36" Type="http://schemas.openxmlformats.org/officeDocument/2006/relationships/slide" Target="slides/slide31.xml" /><Relationship Id="rId37" Type="http://schemas.openxmlformats.org/officeDocument/2006/relationships/slide" Target="slides/slide32.xml" /><Relationship Id="rId38" Type="http://schemas.openxmlformats.org/officeDocument/2006/relationships/slide" Target="slides/slide33.xml" /><Relationship Id="rId39" Type="http://schemas.openxmlformats.org/officeDocument/2006/relationships/slide" Target="slides/slide34.xml" /><Relationship Id="rId4" Type="http://schemas.openxmlformats.org/officeDocument/2006/relationships/theme" Target="theme/theme1.xml" /><Relationship Id="rId40" Type="http://schemas.openxmlformats.org/officeDocument/2006/relationships/slide" Target="slides/slide35.xml" /><Relationship Id="rId41" Type="http://schemas.openxmlformats.org/officeDocument/2006/relationships/slide" Target="slides/slide36.xml" /><Relationship Id="rId42" Type="http://schemas.openxmlformats.org/officeDocument/2006/relationships/slide" Target="slides/slide37.xml" /><Relationship Id="rId43" Type="http://schemas.openxmlformats.org/officeDocument/2006/relationships/slide" Target="slides/slide38.xml" /><Relationship Id="rId44" Type="http://schemas.openxmlformats.org/officeDocument/2006/relationships/slide" Target="slides/slide39.xml" /><Relationship Id="rId45" Type="http://schemas.openxmlformats.org/officeDocument/2006/relationships/slide" Target="slides/slide40.xml" /><Relationship Id="rId46" Type="http://schemas.openxmlformats.org/officeDocument/2006/relationships/slide" Target="slides/slide41.xml" /><Relationship Id="rId47" Type="http://schemas.openxmlformats.org/officeDocument/2006/relationships/slide" Target="slides/slide42.xml" /><Relationship Id="rId48" Type="http://schemas.openxmlformats.org/officeDocument/2006/relationships/slide" Target="slides/slide43.xml" /><Relationship Id="rId49" Type="http://schemas.openxmlformats.org/officeDocument/2006/relationships/slide" Target="slides/slide44.xml" /><Relationship Id="rId5" Type="http://schemas.openxmlformats.org/officeDocument/2006/relationships/slideMaster" Target="slideMasters/slideMaster1.xml" /><Relationship Id="rId50" Type="http://schemas.openxmlformats.org/officeDocument/2006/relationships/slide" Target="slides/slide45.xml" /><Relationship Id="rId51" Type="http://schemas.openxmlformats.org/officeDocument/2006/relationships/slide" Target="slides/slide46.xml" /><Relationship Id="rId52" Type="http://schemas.openxmlformats.org/officeDocument/2006/relationships/slide" Target="slides/slide47.xml" /><Relationship Id="rId53" Type="http://schemas.openxmlformats.org/officeDocument/2006/relationships/slide" Target="slides/slide48.xml" /><Relationship Id="rId54" Type="http://schemas.openxmlformats.org/officeDocument/2006/relationships/slide" Target="slides/slide49.xml" /><Relationship Id="rId55" Type="http://schemas.openxmlformats.org/officeDocument/2006/relationships/slide" Target="slides/slide50.xml" /><Relationship Id="rId56" Type="http://schemas.openxmlformats.org/officeDocument/2006/relationships/font" Target="fonts/font1.fntdata" /><Relationship Id="rId57" Type="http://schemas.openxmlformats.org/officeDocument/2006/relationships/font" Target="fonts/font2.fntdata" /><Relationship Id="rId58" Type="http://schemas.openxmlformats.org/officeDocument/2006/relationships/font" Target="fonts/font3.fntdata" /><Relationship Id="rId59" Type="http://schemas.openxmlformats.org/officeDocument/2006/relationships/font" Target="fonts/font4.fntdata" /><Relationship Id="rId6" Type="http://schemas.openxmlformats.org/officeDocument/2006/relationships/slide" Target="slides/slide1.xml" /><Relationship Id="rId60" Type="http://schemas.openxmlformats.org/officeDocument/2006/relationships/font" Target="fonts/font5.fntdata" /><Relationship Id="rId61" Type="http://schemas.openxmlformats.org/officeDocument/2006/relationships/font" Target="fonts/font6.fntdata" /><Relationship Id="rId62" Type="http://schemas.openxmlformats.org/officeDocument/2006/relationships/font" Target="fonts/font7.fntdata" /><Relationship Id="rId63" Type="http://schemas.openxmlformats.org/officeDocument/2006/relationships/font" Target="fonts/font8.fntdata" /><Relationship Id="rId64" Type="http://schemas.openxmlformats.org/officeDocument/2006/relationships/font" Target="fonts/font9.fntdata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1220366"/>
            <a:ext cx="4524634" cy="6147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b="1">
                <a:solidFill>
                  <a:srgbClr val="365f91"/>
                </a:solidFill>
                <a:latin typeface="IHCODI+Calibri Bold"/>
                <a:cs typeface="IHCODI+Calibri Bold"/>
              </a:rPr>
              <a:t>#</a:t>
            </a:r>
            <a:r>
              <a:rPr dirty="0" sz="1400" b="1">
                <a:solidFill>
                  <a:srgbClr val="365f91"/>
                </a:solidFill>
                <a:latin typeface="IHCODI+Calibri Bold"/>
                <a:cs typeface="IHCODI+Calibri Bold"/>
              </a:rPr>
              <a:t> </a:t>
            </a:r>
            <a:r>
              <a:rPr dirty="0" sz="1400" b="1">
                <a:solidFill>
                  <a:srgbClr val="365f91"/>
                </a:solidFill>
                <a:latin typeface="IHCODI+Calibri Bold"/>
                <a:cs typeface="IHCODI+Calibri Bold"/>
              </a:rPr>
              <a:t>Module</a:t>
            </a:r>
            <a:r>
              <a:rPr dirty="0" sz="1400" b="1">
                <a:solidFill>
                  <a:srgbClr val="365f91"/>
                </a:solidFill>
                <a:latin typeface="IHCODI+Calibri Bold"/>
                <a:cs typeface="IHCODI+Calibri Bold"/>
              </a:rPr>
              <a:t> </a:t>
            </a:r>
            <a:r>
              <a:rPr dirty="0" sz="1400" b="1">
                <a:solidFill>
                  <a:srgbClr val="365f91"/>
                </a:solidFill>
                <a:latin typeface="IHCODI+Calibri Bold"/>
                <a:cs typeface="IHCODI+Calibri Bold"/>
              </a:rPr>
              <a:t>6:</a:t>
            </a:r>
            <a:r>
              <a:rPr dirty="0" sz="1400" b="1">
                <a:solidFill>
                  <a:srgbClr val="365f91"/>
                </a:solidFill>
                <a:latin typeface="IHCODI+Calibri Bold"/>
                <a:cs typeface="IHCODI+Calibri Bold"/>
              </a:rPr>
              <a:t> </a:t>
            </a:r>
            <a:r>
              <a:rPr dirty="0" sz="1400" b="1">
                <a:solidFill>
                  <a:srgbClr val="365f91"/>
                </a:solidFill>
                <a:latin typeface="IHCODI+Calibri Bold"/>
                <a:cs typeface="IHCODI+Calibri Bold"/>
              </a:rPr>
              <a:t>AI</a:t>
            </a:r>
            <a:r>
              <a:rPr dirty="0" sz="1400" b="1">
                <a:solidFill>
                  <a:srgbClr val="365f91"/>
                </a:solidFill>
                <a:latin typeface="IHCODI+Calibri Bold"/>
                <a:cs typeface="IHCODI+Calibri Bold"/>
              </a:rPr>
              <a:t> </a:t>
            </a:r>
            <a:r>
              <a:rPr dirty="0" sz="1400" b="1">
                <a:solidFill>
                  <a:srgbClr val="365f91"/>
                </a:solidFill>
                <a:latin typeface="IHCODI+Calibri Bold"/>
                <a:cs typeface="IHCODI+Calibri Bold"/>
              </a:rPr>
              <a:t>for</a:t>
            </a:r>
            <a:r>
              <a:rPr dirty="0" sz="1400" b="1">
                <a:solidFill>
                  <a:srgbClr val="365f91"/>
                </a:solidFill>
                <a:latin typeface="IHCODI+Calibri Bold"/>
                <a:cs typeface="IHCODI+Calibri Bold"/>
              </a:rPr>
              <a:t> </a:t>
            </a:r>
            <a:r>
              <a:rPr dirty="0" sz="1400" b="1">
                <a:solidFill>
                  <a:srgbClr val="365f91"/>
                </a:solidFill>
                <a:latin typeface="IHCODI+Calibri Bold"/>
                <a:cs typeface="IHCODI+Calibri Bold"/>
              </a:rPr>
              <a:t>Network</a:t>
            </a:r>
            <a:r>
              <a:rPr dirty="0" sz="1400" b="1">
                <a:solidFill>
                  <a:srgbClr val="365f91"/>
                </a:solidFill>
                <a:latin typeface="IHCODI+Calibri Bold"/>
                <a:cs typeface="IHCODI+Calibri Bold"/>
              </a:rPr>
              <a:t> </a:t>
            </a:r>
            <a:r>
              <a:rPr dirty="0" sz="1400" b="1">
                <a:solidFill>
                  <a:srgbClr val="365f91"/>
                </a:solidFill>
                <a:latin typeface="IHCODI+Calibri Bold"/>
                <a:cs typeface="IHCODI+Calibri Bold"/>
              </a:rPr>
              <a:t>Optimization</a:t>
            </a:r>
            <a:r>
              <a:rPr dirty="0" sz="1400" spc="-12" b="1">
                <a:solidFill>
                  <a:srgbClr val="365f91"/>
                </a:solidFill>
                <a:latin typeface="IHCODI+Calibri Bold"/>
                <a:cs typeface="IHCODI+Calibri Bold"/>
              </a:rPr>
              <a:t> </a:t>
            </a:r>
            <a:r>
              <a:rPr dirty="0" sz="1400" b="1">
                <a:solidFill>
                  <a:srgbClr val="365f91"/>
                </a:solidFill>
                <a:latin typeface="IHCODI+Calibri Bold"/>
                <a:cs typeface="IHCODI+Calibri Bold"/>
              </a:rPr>
              <a:t>and</a:t>
            </a:r>
            <a:r>
              <a:rPr dirty="0" sz="1400" b="1">
                <a:solidFill>
                  <a:srgbClr val="365f91"/>
                </a:solidFill>
                <a:latin typeface="IHCODI+Calibri Bold"/>
                <a:cs typeface="IHCODI+Calibri Bold"/>
              </a:rPr>
              <a:t> </a:t>
            </a:r>
            <a:r>
              <a:rPr dirty="0" sz="1400" b="1">
                <a:solidFill>
                  <a:srgbClr val="365f91"/>
                </a:solidFill>
                <a:latin typeface="IHCODI+Calibri Bold"/>
                <a:cs typeface="IHCODI+Calibri Bold"/>
              </a:rPr>
              <a:t>Management</a:t>
            </a:r>
          </a:p>
          <a:p>
            <a:pPr marL="0" marR="0">
              <a:lnSpc>
                <a:spcPts val="1582"/>
              </a:lnSpc>
              <a:spcBef>
                <a:spcPts val="1244"/>
              </a:spcBef>
              <a:spcAft>
                <a:spcPts val="0"/>
              </a:spcAft>
            </a:pP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Week</a:t>
            </a:r>
            <a:r>
              <a:rPr dirty="0" sz="1300" spc="1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6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-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Lecture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Notes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304" y="1953111"/>
            <a:ext cx="1291018" cy="2092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7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4f81bd"/>
                </a:solidFill>
                <a:latin typeface="IHCODI+Calibri Bold"/>
                <a:cs typeface="IHCODI+Calibri Bold"/>
              </a:rPr>
              <a:t>Learning</a:t>
            </a:r>
            <a:r>
              <a:rPr dirty="0" sz="11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100" b="1">
                <a:solidFill>
                  <a:srgbClr val="4f81bd"/>
                </a:solidFill>
                <a:latin typeface="IHCODI+Calibri Bold"/>
                <a:cs typeface="IHCODI+Calibri Bold"/>
              </a:rPr>
              <a:t>Objectives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3304" y="2151505"/>
            <a:ext cx="5102540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1.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Understand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how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techniques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applied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spc="-15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 spc="18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load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balancing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43304" y="2655949"/>
            <a:ext cx="5334511" cy="11477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2.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Implement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dynamic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resource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allocation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algorithms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optimization</a:t>
            </a:r>
          </a:p>
          <a:p>
            <a:pPr marL="0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3.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Design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automated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management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systems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with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self-configuration</a:t>
            </a:r>
            <a:r>
              <a:rPr dirty="0" sz="1100" spc="-1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capabilities</a:t>
            </a:r>
          </a:p>
          <a:p>
            <a:pPr marL="0" marR="0">
              <a:lnSpc>
                <a:spcPts val="1294"/>
              </a:lnSpc>
              <a:spcBef>
                <a:spcPts val="1192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4.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Apply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machine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learning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analytics,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fault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detection,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troubleshooting</a:t>
            </a:r>
          </a:p>
          <a:p>
            <a:pPr marL="0" marR="0">
              <a:lnSpc>
                <a:spcPts val="1294"/>
              </a:lnSpc>
              <a:spcBef>
                <a:spcPts val="1127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5.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Build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time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series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models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using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real-world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datasets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4910"/>
            <a:ext cx="5459704" cy="11876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1.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Intelligent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Network</a:t>
            </a:r>
            <a:r>
              <a:rPr dirty="0" sz="1300" spc="17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Operations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Overview</a:t>
            </a:r>
          </a:p>
          <a:p>
            <a:pPr marL="0" marR="0">
              <a:lnSpc>
                <a:spcPts val="1294"/>
              </a:lnSpc>
              <a:spcBef>
                <a:spcPts val="2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Intelligent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Operations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leverages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machine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learning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automate,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optimize,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enhance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management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tasks...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-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behavior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before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issues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occur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-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Automatically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optimize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performance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based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real-time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conditions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-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Self-heal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from</a:t>
            </a:r>
            <a:r>
              <a:rPr dirty="0" sz="1100" spc="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failures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without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human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intervention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304" y="2089020"/>
            <a:ext cx="2987972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-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Scale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resources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dynamically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based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demand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3097607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NGOPOW+Cambria Bold"/>
                <a:cs typeface="NGOPOW+Cambria Bold"/>
              </a:rPr>
              <a:t>What</a:t>
            </a:r>
            <a:r>
              <a:rPr dirty="0" sz="1100" b="1">
                <a:solidFill>
                  <a:srgbClr val="000000"/>
                </a:solidFill>
                <a:latin typeface="NGOPOW+Cambria Bold"/>
                <a:cs typeface="NGOPOW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NGOPOW+Cambria Bold"/>
                <a:cs typeface="NGOPOW+Cambria Bold"/>
              </a:rPr>
              <a:t>“Intelligent</a:t>
            </a:r>
            <a:r>
              <a:rPr dirty="0" sz="1100" b="1">
                <a:solidFill>
                  <a:srgbClr val="000000"/>
                </a:solidFill>
                <a:latin typeface="NGOPOW+Cambria Bold"/>
                <a:cs typeface="NGOPOW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NGOPOW+Cambria Bold"/>
                <a:cs typeface="NGOPOW+Cambria Bold"/>
              </a:rPr>
              <a:t>Network</a:t>
            </a:r>
            <a:r>
              <a:rPr dirty="0" sz="1100" b="1">
                <a:solidFill>
                  <a:srgbClr val="000000"/>
                </a:solidFill>
                <a:latin typeface="NGOPOW+Cambria Bold"/>
                <a:cs typeface="NGOPOW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NGOPOW+Cambria Bold"/>
                <a:cs typeface="NGOPOW+Cambria Bold"/>
              </a:rPr>
              <a:t>Operations”</a:t>
            </a:r>
            <a:r>
              <a:rPr dirty="0" sz="1100" spc="-13" b="1">
                <a:solidFill>
                  <a:srgbClr val="000000"/>
                </a:solidFill>
                <a:latin typeface="NGOPOW+Cambria Bold"/>
                <a:cs typeface="NGOPOW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NGOPOW+Cambria Bold"/>
                <a:cs typeface="NGOPOW+Cambria Bold"/>
              </a:rPr>
              <a:t>means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304" y="1231008"/>
            <a:ext cx="5641221" cy="13317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Intelligent</a:t>
            </a:r>
            <a:r>
              <a:rPr dirty="0" sz="1100" spc="-19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 spc="-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Operations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(INO)</a:t>
            </a:r>
            <a:r>
              <a:rPr dirty="0" sz="1100" spc="-18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practice</a:t>
            </a:r>
            <a:r>
              <a:rPr dirty="0" sz="1100" spc="-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of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automated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software,</a:t>
            </a:r>
            <a:r>
              <a:rPr dirty="0" sz="1100" spc="-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telemetry,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 spc="5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AI/ML</a:t>
            </a:r>
            <a:r>
              <a:rPr dirty="0" sz="1100" spc="5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 spc="4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run</a:t>
            </a:r>
            <a:r>
              <a:rPr dirty="0" sz="1100" spc="5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</a:t>
            </a:r>
            <a:r>
              <a:rPr dirty="0" sz="1100" spc="6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 spc="58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with</a:t>
            </a:r>
            <a:r>
              <a:rPr dirty="0" sz="1100" spc="6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minimal</a:t>
            </a:r>
            <a:r>
              <a:rPr dirty="0" sz="1100" spc="4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manual</a:t>
            </a:r>
            <a:r>
              <a:rPr dirty="0" sz="1100" spc="4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intervention.</a:t>
            </a:r>
            <a:r>
              <a:rPr dirty="0" sz="1100" spc="5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Instead</a:t>
            </a:r>
            <a:r>
              <a:rPr dirty="0" sz="1100" spc="48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of</a:t>
            </a:r>
            <a:r>
              <a:rPr dirty="0" sz="1100" spc="4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admins</a:t>
            </a:r>
            <a:r>
              <a:rPr dirty="0" sz="1100" spc="6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reacting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 spc="4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alarms</a:t>
            </a:r>
            <a:r>
              <a:rPr dirty="0" sz="1100" spc="5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 spc="3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hand-tuning</a:t>
            </a:r>
            <a:r>
              <a:rPr dirty="0" sz="1100" spc="5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devices,</a:t>
            </a:r>
            <a:r>
              <a:rPr dirty="0" sz="1100" spc="4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INO</a:t>
            </a:r>
            <a:r>
              <a:rPr dirty="0" sz="1100" spc="4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systems</a:t>
            </a:r>
            <a:r>
              <a:rPr dirty="0" sz="1100" spc="4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continuously</a:t>
            </a:r>
            <a:r>
              <a:rPr dirty="0" sz="1100" spc="4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observe</a:t>
            </a:r>
            <a:r>
              <a:rPr dirty="0" sz="1100" spc="48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</a:t>
            </a:r>
            <a:r>
              <a:rPr dirty="0" sz="1100" spc="4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network,</a:t>
            </a:r>
            <a:r>
              <a:rPr dirty="0" sz="1100" spc="4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</a:t>
            </a:r>
          </a:p>
          <a:p>
            <a:pPr marL="0" marR="0">
              <a:lnSpc>
                <a:spcPts val="1294"/>
              </a:lnSpc>
              <a:spcBef>
                <a:spcPts val="14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problems</a:t>
            </a:r>
            <a:r>
              <a:rPr dirty="0" sz="1100" spc="98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 spc="8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capacity</a:t>
            </a:r>
            <a:r>
              <a:rPr dirty="0" sz="1100" spc="8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needs,</a:t>
            </a:r>
            <a:r>
              <a:rPr dirty="0" sz="1100" spc="9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make</a:t>
            </a:r>
            <a:r>
              <a:rPr dirty="0" sz="1100" spc="9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decisions</a:t>
            </a:r>
            <a:r>
              <a:rPr dirty="0" sz="1100" spc="98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(sometimes</a:t>
            </a:r>
            <a:r>
              <a:rPr dirty="0" sz="1100" spc="10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via</a:t>
            </a:r>
            <a:r>
              <a:rPr dirty="0" sz="1100" spc="9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learned</a:t>
            </a:r>
            <a:r>
              <a:rPr dirty="0" sz="1100" spc="9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policies),</a:t>
            </a:r>
            <a:r>
              <a:rPr dirty="0" sz="1100" spc="9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 spc="9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execute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changes</a:t>
            </a:r>
            <a:r>
              <a:rPr dirty="0" sz="1100" spc="238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—</a:t>
            </a:r>
            <a:r>
              <a:rPr dirty="0" sz="1100" spc="23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then</a:t>
            </a:r>
            <a:r>
              <a:rPr dirty="0" sz="1100" spc="2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measure</a:t>
            </a:r>
            <a:r>
              <a:rPr dirty="0" sz="1100" spc="228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</a:t>
            </a:r>
            <a:r>
              <a:rPr dirty="0" sz="1100" spc="22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result</a:t>
            </a:r>
            <a:r>
              <a:rPr dirty="0" sz="1100" spc="22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 spc="22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learn</a:t>
            </a:r>
            <a:r>
              <a:rPr dirty="0" sz="1100" spc="22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from</a:t>
            </a:r>
            <a:r>
              <a:rPr dirty="0" sz="1100" spc="23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it.</a:t>
            </a:r>
            <a:r>
              <a:rPr dirty="0" sz="1100" spc="23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</a:t>
            </a:r>
            <a:r>
              <a:rPr dirty="0" sz="1100" spc="23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goal</a:t>
            </a:r>
            <a:r>
              <a:rPr dirty="0" sz="1100" spc="2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is</a:t>
            </a:r>
            <a:r>
              <a:rPr dirty="0" sz="1100" spc="22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faster</a:t>
            </a:r>
            <a:r>
              <a:rPr dirty="0" sz="1100" spc="2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detection</a:t>
            </a:r>
            <a:r>
              <a:rPr dirty="0" sz="1100" spc="22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remediation,</a:t>
            </a:r>
            <a:r>
              <a:rPr dirty="0" sz="1100" spc="17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more</a:t>
            </a:r>
            <a:r>
              <a:rPr dirty="0" sz="1100" spc="19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efficient</a:t>
            </a:r>
            <a:r>
              <a:rPr dirty="0" sz="1100" spc="19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</a:t>
            </a:r>
            <a:r>
              <a:rPr dirty="0" sz="1100" spc="17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of</a:t>
            </a:r>
            <a:r>
              <a:rPr dirty="0" sz="1100" spc="19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resources,</a:t>
            </a:r>
            <a:r>
              <a:rPr dirty="0" sz="1100" spc="19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 spc="16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higher</a:t>
            </a:r>
            <a:r>
              <a:rPr dirty="0" sz="1100" spc="17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user</a:t>
            </a:r>
            <a:r>
              <a:rPr dirty="0" sz="1100" spc="179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experience</a:t>
            </a:r>
            <a:r>
              <a:rPr dirty="0" sz="1100" spc="18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(lower</a:t>
            </a:r>
            <a:r>
              <a:rPr dirty="0" sz="1100" spc="19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latency,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fewer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outages).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3497881" cy="8334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The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closed-loop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control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flow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(how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it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actually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works)</a:t>
            </a:r>
          </a:p>
          <a:p>
            <a:pPr marL="0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is</a:t>
            </a:r>
            <a:r>
              <a:rPr dirty="0" sz="1100" spc="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best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thought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of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as</a:t>
            </a:r>
            <a:r>
              <a:rPr dirty="0" sz="1100" spc="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repeating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loop:</a:t>
            </a:r>
          </a:p>
          <a:p>
            <a:pPr marL="228549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1.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Sense</a:t>
            </a:r>
            <a:r>
              <a:rPr dirty="0" sz="1100" spc="-16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(Collect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telemetry)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054" y="1889862"/>
            <a:ext cx="228307" cy="1442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96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57654" y="1861944"/>
            <a:ext cx="373248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Metrics: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throughput,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latency,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packet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loss,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interface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counters.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57654" y="2177413"/>
            <a:ext cx="2160610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Flow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data: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NetFlow/IPFIX/sFlow.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57654" y="2492881"/>
            <a:ext cx="4693467" cy="8322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Logs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events: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syslogs,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BGP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updates,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application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logs.</a:t>
            </a:r>
          </a:p>
          <a:p>
            <a:pPr marL="0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External/contextual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signals: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calendar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(planned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events),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CDNs,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sessions.</a:t>
            </a:r>
          </a:p>
          <a:p>
            <a:pPr marL="0" marR="0">
              <a:lnSpc>
                <a:spcPts val="1294"/>
              </a:lnSpc>
              <a:spcBef>
                <a:spcPts val="118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Methods: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streaming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telemetry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(gRPC/HTTP),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SNMP,</a:t>
            </a:r>
            <a:r>
              <a:rPr dirty="0" sz="1100" spc="-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packet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capture.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1854" y="915541"/>
            <a:ext cx="3111999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2.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Analyze</a:t>
            </a:r>
            <a:r>
              <a:rPr dirty="0" sz="1100" spc="-11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(Feature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engineering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&amp;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inference)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054" y="1258926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57654" y="1231008"/>
            <a:ext cx="4311821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Clean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aggregate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raw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telemetry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features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(rolling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averages,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percentiles,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time-of-day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encodings,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lag</a:t>
            </a:r>
            <a:r>
              <a:rPr dirty="0" sz="1100" spc="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features).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29054" y="1761847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57654" y="1733929"/>
            <a:ext cx="4611725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Run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models: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anomaly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detectors,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forecasters,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degradation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predictors,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root-cause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classifiers.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1854" y="915541"/>
            <a:ext cx="2327256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3.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Decide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(Policy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+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optimization)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054" y="1258926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57654" y="1231008"/>
            <a:ext cx="4441163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Convert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model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outputs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actions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using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rules,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optimization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engines,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57654" y="1419984"/>
            <a:ext cx="4573986" cy="3899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learned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policies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(e.g.,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reinforcement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learning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policy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that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picks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how</a:t>
            </a:r>
            <a:r>
              <a:rPr dirty="0" sz="1100" spc="-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many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instances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spc="-16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 spc="19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spin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up).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29054" y="1950823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57654" y="1922905"/>
            <a:ext cx="4250269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Factor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constraints:</a:t>
            </a:r>
            <a:r>
              <a:rPr dirty="0" sz="1100" spc="-1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SLAs,</a:t>
            </a:r>
            <a:r>
              <a:rPr dirty="0" sz="1100" spc="-1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cost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limits,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security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policies,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capacity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limits.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1854" y="915541"/>
            <a:ext cx="1787034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4.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Act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(Execute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changes)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054" y="1258926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57654" y="1231008"/>
            <a:ext cx="4592802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Push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config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orchestration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actions: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change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routes,</a:t>
            </a:r>
            <a:r>
              <a:rPr dirty="0" sz="1100" spc="-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rebalance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load,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spawn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57654" y="1419984"/>
            <a:ext cx="2839497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VNFs/containers,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adjust</a:t>
            </a:r>
            <a:r>
              <a:rPr dirty="0" sz="1100" spc="-1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QoS,</a:t>
            </a:r>
            <a:r>
              <a:rPr dirty="0" sz="1100" spc="-1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invoke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failover.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29054" y="1761847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57654" y="1733929"/>
            <a:ext cx="433243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</a:t>
            </a:r>
            <a:r>
              <a:rPr dirty="0" sz="1100" spc="-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safe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execution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patterns: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canaries,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staged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rollouts,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circuit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breakers.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71854" y="2049396"/>
            <a:ext cx="2565188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5.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Verify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&amp;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Learn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(Monitor</a:t>
            </a:r>
            <a:r>
              <a:rPr dirty="0" sz="1100" spc="-16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outcome)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829054" y="2392783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57654" y="2364865"/>
            <a:ext cx="4469079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Measure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effect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(did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latency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drop?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did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packet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loss</a:t>
            </a:r>
            <a:r>
              <a:rPr dirty="0" sz="1100" spc="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improve?)</a:t>
            </a:r>
            <a:r>
              <a:rPr dirty="0" sz="1100" spc="-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feed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results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back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retrain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models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adjust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policies.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935836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Key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Benefits: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304" y="1104517"/>
            <a:ext cx="5499827" cy="7663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-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Proactive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Management: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prevent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issues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before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impact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users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-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Cost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Optimization: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Efficiently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allocate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resources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spc="-16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 spc="19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minimize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operational</a:t>
            </a:r>
            <a:r>
              <a:rPr dirty="0" sz="1100" spc="-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costs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-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Improved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Reliability: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Reduce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downtime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through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automated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fault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detection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recovery</a:t>
            </a:r>
          </a:p>
          <a:p>
            <a:pPr marL="0" marR="0">
              <a:lnSpc>
                <a:spcPts val="1294"/>
              </a:lnSpc>
              <a:spcBef>
                <a:spcPts val="13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-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Enhanced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Performance:</a:t>
            </a:r>
            <a:r>
              <a:rPr dirty="0" sz="1100" spc="-1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Continuously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optimize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parameters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peak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efficiency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4910"/>
            <a:ext cx="3450594" cy="23901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2.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Traffic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Prediction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and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Load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Balancing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Using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AI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304" y="1147189"/>
            <a:ext cx="5561704" cy="578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exhibits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predictable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temporal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spatial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patterns.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techniques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such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as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ARIMA,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LSTM,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Prophet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time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series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forecasting,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while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machine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learning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approaches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like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SVR,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Random</a:t>
            </a:r>
            <a:r>
              <a:rPr dirty="0" sz="1100" spc="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Forests,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Gradient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Boosting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improve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accuracy.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3304" y="1900044"/>
            <a:ext cx="1102123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Load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Balancing: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43304" y="2089020"/>
            <a:ext cx="4314564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-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Traditional</a:t>
            </a:r>
            <a:r>
              <a:rPr dirty="0" sz="1100" spc="-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methods: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Round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Robin,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Least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Connections,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IP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Hash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-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AI-Enhanced: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Predictive,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Adaptive,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Multi-Objective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Optimization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1288437" cy="5179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Traffic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Prediction</a:t>
            </a:r>
          </a:p>
          <a:p>
            <a:pPr marL="0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Why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it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matters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304" y="1546477"/>
            <a:ext cx="5478138" cy="578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is</a:t>
            </a:r>
            <a:r>
              <a:rPr dirty="0" sz="1100" spc="1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rarely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random.</a:t>
            </a:r>
            <a:r>
              <a:rPr dirty="0" sz="1100" spc="-1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has</a:t>
            </a:r>
            <a:r>
              <a:rPr dirty="0" sz="1100" spc="1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temporal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patterns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(e.g.,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morning/evening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peaks,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weekend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vs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weekday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usage)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spatial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patterns</a:t>
            </a:r>
            <a:r>
              <a:rPr dirty="0" sz="1100" spc="-12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(e.g.,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heavy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video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demand</a:t>
            </a:r>
            <a:r>
              <a:rPr dirty="0" sz="1100" spc="-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some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regions,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bursts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near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data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centers).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If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predict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traffic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accurately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can: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1854" y="2244426"/>
            <a:ext cx="210581" cy="11398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  <a:p>
            <a:pPr marL="0" marR="0">
              <a:lnSpc>
                <a:spcPts val="1220"/>
              </a:lnSpc>
              <a:spcBef>
                <a:spcPts val="1263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  <a:p>
            <a:pPr marL="0" marR="0">
              <a:lnSpc>
                <a:spcPts val="1220"/>
              </a:lnSpc>
              <a:spcBef>
                <a:spcPts val="1263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  <a:p>
            <a:pPr marL="0" marR="0">
              <a:lnSpc>
                <a:spcPts val="1220"/>
              </a:lnSpc>
              <a:spcBef>
                <a:spcPts val="1266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00454" y="2238372"/>
            <a:ext cx="2323300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Pre-provision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capacity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before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peaks.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00454" y="2553841"/>
            <a:ext cx="3618072" cy="833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Avoid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congestion,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packet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loss,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SLA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violations.</a:t>
            </a:r>
          </a:p>
          <a:p>
            <a:pPr marL="0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Save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money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scaling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down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during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low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demand.</a:t>
            </a:r>
          </a:p>
          <a:p>
            <a:pPr marL="0" marR="0">
              <a:lnSpc>
                <a:spcPts val="1294"/>
              </a:lnSpc>
              <a:spcBef>
                <a:spcPts val="1192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Improve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experience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reducing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latency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outages.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253061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AI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Techniques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for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Traffic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Forecasting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854" y="1231008"/>
            <a:ext cx="2312677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1.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Statistical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Time-Series</a:t>
            </a:r>
            <a:r>
              <a:rPr dirty="0" sz="1100" spc="-13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Models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29054" y="1574395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57654" y="1546477"/>
            <a:ext cx="3512792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ARIMA</a:t>
            </a:r>
            <a:r>
              <a:rPr dirty="0" sz="1100" spc="-13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(AutoRegressive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Integrated</a:t>
            </a:r>
            <a:r>
              <a:rPr dirty="0" sz="1100" spc="-1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Moving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Average)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86254" y="1881462"/>
            <a:ext cx="210272" cy="4939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UEBFO+Wingdings"/>
                <a:cs typeface="KUEBFO+Wingdings"/>
              </a:rPr>
              <a:t>▪</a:t>
            </a:r>
          </a:p>
          <a:p>
            <a:pPr marL="0" marR="0">
              <a:lnSpc>
                <a:spcPts val="1105"/>
              </a:lnSpc>
              <a:spcBef>
                <a:spcPts val="1378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UEBFO+Wingdings"/>
                <a:cs typeface="KUEBFO+Wingdings"/>
              </a:rPr>
              <a:t>▪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15235" y="1861944"/>
            <a:ext cx="3587157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Captures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trends,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seasonality,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short-term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correlations.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15235" y="2177413"/>
            <a:ext cx="3562130" cy="3899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Works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well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stable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with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repeating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patterns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(e.g.,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daily/weekly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cycles).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86254" y="2699850"/>
            <a:ext cx="210272" cy="1784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UEBFO+Wingdings"/>
                <a:cs typeface="KUEBFO+Wingdings"/>
              </a:rPr>
              <a:t>▪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515235" y="2680332"/>
            <a:ext cx="3317887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Limitation: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struggles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with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nonlinear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 spc="-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sudden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shifts.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29054" y="3024099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57654" y="2996181"/>
            <a:ext cx="2010604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Prophet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(by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Facebook/Meta)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286254" y="3331168"/>
            <a:ext cx="210272" cy="1784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UEBFO+Wingdings"/>
                <a:cs typeface="KUEBFO+Wingdings"/>
              </a:rPr>
              <a:t>▪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515235" y="3311650"/>
            <a:ext cx="3944878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Designed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business-like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time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series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with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multiple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seasonality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components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(hourly,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weekly,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yearly).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286254" y="3835612"/>
            <a:ext cx="210272" cy="4924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UEBFO+Wingdings"/>
                <a:cs typeface="KUEBFO+Wingdings"/>
              </a:rPr>
              <a:t>▪</a:t>
            </a:r>
          </a:p>
          <a:p>
            <a:pPr marL="0" marR="0">
              <a:lnSpc>
                <a:spcPts val="1105"/>
              </a:lnSpc>
              <a:spcBef>
                <a:spcPts val="1366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UEBFO+Wingdings"/>
                <a:cs typeface="KUEBFO+Wingdings"/>
              </a:rPr>
              <a:t>▪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515235" y="3816094"/>
            <a:ext cx="3256616" cy="5164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Easy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include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external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events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(holidays,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launches).</a:t>
            </a:r>
          </a:p>
          <a:p>
            <a:pPr marL="0" marR="0">
              <a:lnSpc>
                <a:spcPts val="1294"/>
              </a:lnSpc>
              <a:spcBef>
                <a:spcPts val="1177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robust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than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ARIMA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real-world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noisy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data.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1854" y="915541"/>
            <a:ext cx="1811820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2.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Deep</a:t>
            </a:r>
            <a:r>
              <a:rPr dirty="0" sz="1100" spc="-13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Learning</a:t>
            </a:r>
            <a:r>
              <a:rPr dirty="0" sz="1100" spc="-12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054" y="1258926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57654" y="1231008"/>
            <a:ext cx="2956342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LSTM</a:t>
            </a:r>
            <a:r>
              <a:rPr dirty="0" sz="1100" spc="-11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(Long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Short-Term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Memory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networks)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86254" y="1565995"/>
            <a:ext cx="210272" cy="8094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UEBFO+Wingdings"/>
                <a:cs typeface="KUEBFO+Wingdings"/>
              </a:rPr>
              <a:t>▪</a:t>
            </a:r>
          </a:p>
          <a:p>
            <a:pPr marL="0" marR="0">
              <a:lnSpc>
                <a:spcPts val="1105"/>
              </a:lnSpc>
              <a:spcBef>
                <a:spcPts val="1378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UEBFO+Wingdings"/>
                <a:cs typeface="KUEBFO+Wingdings"/>
              </a:rPr>
              <a:t>▪</a:t>
            </a:r>
          </a:p>
          <a:p>
            <a:pPr marL="0" marR="0">
              <a:lnSpc>
                <a:spcPts val="1105"/>
              </a:lnSpc>
              <a:spcBef>
                <a:spcPts val="1378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UEBFO+Wingdings"/>
                <a:cs typeface="KUEBFO+Wingdings"/>
              </a:rPr>
              <a:t>▪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515235" y="1546477"/>
            <a:ext cx="4086939" cy="5179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Specialized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RNNs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that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capture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long-range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temporal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dependencies.</a:t>
            </a:r>
          </a:p>
          <a:p>
            <a:pPr marL="0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Good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with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complex,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nonlinear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patterns.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15235" y="2177413"/>
            <a:ext cx="4112405" cy="3899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Example: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detecting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“Friday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evening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video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spikes”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or</a:t>
            </a:r>
            <a:r>
              <a:rPr dirty="0" sz="1100" spc="-14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“game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release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bursts.”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29054" y="2708250"/>
            <a:ext cx="228307" cy="497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8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57654" y="2680332"/>
            <a:ext cx="383272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GRU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(Gated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Recurrent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Units)</a:t>
            </a:r>
            <a:r>
              <a:rPr dirty="0" sz="1100" spc="17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—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lighter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alternative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LSTM.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57654" y="2996181"/>
            <a:ext cx="3796994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Transformers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(Temporal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Fusion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Transformer,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Informer)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286254" y="3331168"/>
            <a:ext cx="210272" cy="1784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UEBFO+Wingdings"/>
                <a:cs typeface="KUEBFO+Wingdings"/>
              </a:rPr>
              <a:t>▪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515235" y="3311650"/>
            <a:ext cx="3798325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Handle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very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sequences,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learn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multiple</a:t>
            </a:r>
            <a:r>
              <a:rPr dirty="0" sz="1100" spc="-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seasonalities,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integrate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external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features.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1854" y="915541"/>
            <a:ext cx="3071870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3.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Machine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Learning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Regression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Approaches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054" y="1258926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57654" y="1231008"/>
            <a:ext cx="3674938" cy="8334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SVR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(Support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Vector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Regression)</a:t>
            </a:r>
          </a:p>
          <a:p>
            <a:pPr marL="457581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Good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nonlinear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relationships,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robust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outliers.</a:t>
            </a:r>
          </a:p>
          <a:p>
            <a:pPr marL="0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Random</a:t>
            </a:r>
            <a:r>
              <a:rPr dirty="0" sz="1100" spc="-15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Forests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86254" y="1565995"/>
            <a:ext cx="210272" cy="1784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UEBFO+Wingdings"/>
                <a:cs typeface="KUEBFO+Wingdings"/>
              </a:rPr>
              <a:t>▪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29054" y="1889862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86254" y="2196931"/>
            <a:ext cx="210272" cy="1784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UEBFO+Wingdings"/>
                <a:cs typeface="KUEBFO+Wingdings"/>
              </a:rPr>
              <a:t>▪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15235" y="2177413"/>
            <a:ext cx="4181948" cy="3899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Ensemble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of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decision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trees,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captures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nonlinear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patterns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feature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interactions.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829054" y="2708250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57654" y="2680332"/>
            <a:ext cx="3327578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Gradient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Boosting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(XGBoost,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LightGBM,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CatBoost)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286254" y="3015699"/>
            <a:ext cx="210272" cy="1784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UEBFO+Wingdings"/>
                <a:cs typeface="KUEBFO+Wingdings"/>
              </a:rPr>
              <a:t>▪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515235" y="2996181"/>
            <a:ext cx="4122120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Very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strong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predictors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when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you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have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rich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feature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(lag</a:t>
            </a:r>
            <a:r>
              <a:rPr dirty="0" sz="1100" spc="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values,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time-of-day,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exogenous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inputs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like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weather/events).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4910"/>
            <a:ext cx="3100230" cy="23901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3.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Dynamic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Resource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Allocation</a:t>
            </a:r>
            <a:r>
              <a:rPr dirty="0" sz="1300" spc="14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304" y="1147189"/>
            <a:ext cx="5338984" cy="578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Challenges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include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variable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demand,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limited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resources,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QoS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requirements,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cost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considerations.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solutions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include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reinforcement</a:t>
            </a:r>
            <a:r>
              <a:rPr dirty="0" sz="1100" spc="-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learning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(Q-Learning,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Deep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RL),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optimization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algorithms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(Genetic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Algorithms,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Simulated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Annealing).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3304" y="1900044"/>
            <a:ext cx="388348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Key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KPIs:</a:t>
            </a:r>
            <a:r>
              <a:rPr dirty="0" sz="1100" spc="-19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Throughput,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Latency,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Packet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Loss,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Jitter,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Availability.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2549768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What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is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dynamic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resource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allocation?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304" y="1231008"/>
            <a:ext cx="5596529" cy="95533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Dynamic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resource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allocation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means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assigning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compute,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storage,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resources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(CPU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cores,</a:t>
            </a:r>
            <a:r>
              <a:rPr dirty="0" sz="1100" spc="-1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VMs/containers,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bandwidth,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queue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slots,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VNFs,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etc.)</a:t>
            </a:r>
            <a:r>
              <a:rPr dirty="0" sz="1100" spc="18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over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time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system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meets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service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goals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(throughput,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latency,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availability)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while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minimizing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cost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obeying</a:t>
            </a:r>
          </a:p>
          <a:p>
            <a:pPr marL="0" marR="0">
              <a:lnSpc>
                <a:spcPts val="1294"/>
              </a:lnSpc>
              <a:spcBef>
                <a:spcPts val="14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constraints.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replaces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static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provisioning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with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policies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that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react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anticipate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changing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demand.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3304" y="2299332"/>
            <a:ext cx="122200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Typical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examples: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71854" y="2620854"/>
            <a:ext cx="210581" cy="8243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  <a:p>
            <a:pPr marL="0" marR="0">
              <a:lnSpc>
                <a:spcPts val="1220"/>
              </a:lnSpc>
              <a:spcBef>
                <a:spcPts val="1263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  <a:p>
            <a:pPr marL="0" marR="0">
              <a:lnSpc>
                <a:spcPts val="1220"/>
              </a:lnSpc>
              <a:spcBef>
                <a:spcPts val="1266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00454" y="2614801"/>
            <a:ext cx="3167023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Autoscaling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web</a:t>
            </a:r>
            <a:r>
              <a:rPr dirty="0" sz="1100" spc="-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service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replicas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cloud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cluster.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00454" y="2930268"/>
            <a:ext cx="288548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Allocating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bandwidth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across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flows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router.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00454" y="3246118"/>
            <a:ext cx="4600999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Placing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VNFs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(virtual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functions)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across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</a:t>
            </a:r>
            <a:r>
              <a:rPr dirty="0" sz="1100" spc="-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edge</a:t>
            </a:r>
            <a:r>
              <a:rPr dirty="0" sz="1100" spc="-10">
                <a:solidFill>
                  <a:srgbClr val="000000"/>
                </a:solidFill>
                <a:latin typeface="MENVHP+Cambria"/>
                <a:cs typeface="MENVHP+Cambria"/>
              </a:rPr>
              <a:t>–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cloud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continuum.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2322708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Core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challenges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(why</a:t>
            </a:r>
            <a:r>
              <a:rPr dirty="0" sz="1100" spc="-11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this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is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hard)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854" y="1231008"/>
            <a:ext cx="2207793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1.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Variable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bursty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demand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29054" y="1574395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57654" y="1546477"/>
            <a:ext cx="4313647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load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stochastic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nonstationary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(peak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hours,</a:t>
            </a:r>
            <a:r>
              <a:rPr dirty="0" sz="1100" spc="-1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sudden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57654" y="1733929"/>
            <a:ext cx="628066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events).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29054" y="2077314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57654" y="2049396"/>
            <a:ext cx="4038976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policies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that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handle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both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predictable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cycles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rare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spikes.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71854" y="2364865"/>
            <a:ext cx="2803620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2.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Resource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constraints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&amp;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heterogeneity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29054" y="2708250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57654" y="2680332"/>
            <a:ext cx="4516049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Limited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CPU,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memory,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link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capacity.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Resources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differ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(GPU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vs</a:t>
            </a:r>
            <a:r>
              <a:rPr dirty="0" sz="1100" spc="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CPU,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fast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vs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slow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links).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71854" y="3185157"/>
            <a:ext cx="3316118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3.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Quality-of-Service</a:t>
            </a:r>
            <a:r>
              <a:rPr dirty="0" sz="1100" spc="-13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(QoS)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requirements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&amp;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SLAs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829054" y="3528544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57654" y="3500626"/>
            <a:ext cx="4456515" cy="3899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Different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flows/services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have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different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tolerances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latency,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loss,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jitter.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Violations</a:t>
            </a:r>
            <a:r>
              <a:rPr dirty="0" sz="1100" spc="-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carry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penalties.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1854" y="915541"/>
            <a:ext cx="2016923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4.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Multi-objective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trade-offs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054" y="1258926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57654" y="1231008"/>
            <a:ext cx="4317765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Throughput,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latency,</a:t>
            </a:r>
            <a:r>
              <a:rPr dirty="0" sz="1100" spc="-1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cost,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energy,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fairness</a:t>
            </a:r>
            <a:r>
              <a:rPr dirty="0" sz="1100" spc="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—</a:t>
            </a:r>
            <a:r>
              <a:rPr dirty="0" sz="1100" spc="-1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improving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one</a:t>
            </a:r>
            <a:r>
              <a:rPr dirty="0" sz="1100" spc="-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hurt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another.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71854" y="1733929"/>
            <a:ext cx="2508093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5.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Lead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times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&amp;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provisioning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delays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29054" y="2077314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57654" y="2049396"/>
            <a:ext cx="4334223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Spinning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up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new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capacity</a:t>
            </a:r>
            <a:r>
              <a:rPr dirty="0" sz="1100" spc="-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take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seconds-to-minutes;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path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reconfig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takes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time.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1854" y="915541"/>
            <a:ext cx="2875126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6.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Partial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observability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&amp;</a:t>
            </a:r>
            <a:r>
              <a:rPr dirty="0" sz="1100" spc="-13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noisy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telemetry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054" y="1258926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57654" y="1231008"/>
            <a:ext cx="4341742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Measurements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delayed,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sampled,</a:t>
            </a:r>
            <a:r>
              <a:rPr dirty="0" sz="1100" spc="-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noisy;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agent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rarely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has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</a:t>
            </a:r>
            <a:r>
              <a:rPr dirty="0" sz="1100" spc="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full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system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state.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71854" y="1733929"/>
            <a:ext cx="2443913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7.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Scalability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&amp;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computational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cost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29054" y="2077314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57654" y="2049396"/>
            <a:ext cx="3995836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Decisions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must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computed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time</a:t>
            </a:r>
            <a:r>
              <a:rPr dirty="0" sz="1100" spc="-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large-scale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systems.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71854" y="2364865"/>
            <a:ext cx="1467158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8.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Safety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&amp;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stability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829054" y="2708250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57654" y="2680332"/>
            <a:ext cx="4724598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Wrong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actions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cascade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(oscillation,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resource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thrashing).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Safe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exploration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required.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2895933" cy="5179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048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AI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solutions: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Reinforcement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Learning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(RL)</a:t>
            </a:r>
          </a:p>
          <a:p>
            <a:pPr marL="0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Why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RL?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304" y="1546477"/>
            <a:ext cx="5188480" cy="3899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learns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policies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that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map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states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→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actions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maximize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long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-term</a:t>
            </a:r>
            <a:r>
              <a:rPr dirty="0" sz="1100" spc="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reward.</a:t>
            </a:r>
            <a:r>
              <a:rPr dirty="0" sz="1100" spc="-1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This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fits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sequential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decision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problems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where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actions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now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affect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future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state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costs.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3304" y="2049396"/>
            <a:ext cx="1292288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Basic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RL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concepts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71854" y="2370918"/>
            <a:ext cx="210581" cy="1930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00454" y="2364865"/>
            <a:ext cx="509621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State</a:t>
            </a:r>
            <a:r>
              <a:rPr dirty="0" sz="1100" spc="-13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(s):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representation</a:t>
            </a:r>
            <a:r>
              <a:rPr dirty="0" sz="1100" spc="-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of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current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system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(CPU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load,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queue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lengths,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recent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traffic,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00454" y="2553841"/>
            <a:ext cx="1058856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available</a:t>
            </a:r>
            <a:r>
              <a:rPr dirty="0" sz="1100" spc="-1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VMs).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71854" y="2875362"/>
            <a:ext cx="210581" cy="1930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00454" y="2869308"/>
            <a:ext cx="4993877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Action</a:t>
            </a:r>
            <a:r>
              <a:rPr dirty="0" sz="1100" spc="-11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(a):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allocate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replicas,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route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fraction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x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link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increase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bandwidth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cap,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00454" y="3057142"/>
            <a:ext cx="359358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etc.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71854" y="3378663"/>
            <a:ext cx="210581" cy="5085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  <a:p>
            <a:pPr marL="0" marR="0">
              <a:lnSpc>
                <a:spcPts val="1220"/>
              </a:lnSpc>
              <a:spcBef>
                <a:spcPts val="1263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00454" y="3372610"/>
            <a:ext cx="3918709" cy="5179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Reward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(r):</a:t>
            </a:r>
            <a:r>
              <a:rPr dirty="0" sz="1100" spc="-11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scalar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feedback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(e.g.,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negative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of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latency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cost).</a:t>
            </a:r>
          </a:p>
          <a:p>
            <a:pPr marL="0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NGOPOW+Cambria Bold"/>
                <a:cs typeface="NGOPOW+Cambria Bold"/>
              </a:rPr>
              <a:t>Policy</a:t>
            </a:r>
            <a:r>
              <a:rPr dirty="0" sz="1100" b="1">
                <a:solidFill>
                  <a:srgbClr val="000000"/>
                </a:solidFill>
                <a:latin typeface="NGOPOW+Cambria Bold"/>
                <a:cs typeface="NGOPOW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NGOPOW+Cambria Bold"/>
                <a:cs typeface="NGOPOW+Cambria Bold"/>
              </a:rPr>
              <a:t>(π):</a:t>
            </a:r>
            <a:r>
              <a:rPr dirty="0" sz="1100" b="1">
                <a:solidFill>
                  <a:srgbClr val="000000"/>
                </a:solidFill>
                <a:latin typeface="NGOPOW+Cambria Bold"/>
                <a:cs typeface="NGOPOW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mapping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from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states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actions.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4910"/>
            <a:ext cx="2688710" cy="23901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4.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Automated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Network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304" y="1147189"/>
            <a:ext cx="5639291" cy="578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Covers</a:t>
            </a:r>
            <a:r>
              <a:rPr dirty="0" sz="1100" spc="103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Self-Configuration</a:t>
            </a:r>
            <a:r>
              <a:rPr dirty="0" sz="1100" spc="1028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(device</a:t>
            </a:r>
            <a:r>
              <a:rPr dirty="0" sz="1100" spc="1029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discovery,</a:t>
            </a:r>
            <a:r>
              <a:rPr dirty="0" sz="1100" spc="1018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configuration</a:t>
            </a:r>
            <a:r>
              <a:rPr dirty="0" sz="1100" spc="102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management,</a:t>
            </a:r>
            <a:r>
              <a:rPr dirty="0" sz="1100" spc="103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policy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enforcement),</a:t>
            </a:r>
            <a:r>
              <a:rPr dirty="0" sz="1100" spc="8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Self-Optimization</a:t>
            </a:r>
            <a:r>
              <a:rPr dirty="0" sz="1100" spc="68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(routing,</a:t>
            </a:r>
            <a:r>
              <a:rPr dirty="0" sz="1100" spc="8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resource</a:t>
            </a:r>
            <a:r>
              <a:rPr dirty="0" sz="1100" spc="6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utilization,</a:t>
            </a:r>
            <a:r>
              <a:rPr dirty="0" sz="1100" spc="8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parameter</a:t>
            </a:r>
            <a:r>
              <a:rPr dirty="0" sz="1100" spc="8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tuning),</a:t>
            </a:r>
            <a:r>
              <a:rPr dirty="0" sz="1100" spc="7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 spc="6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Self-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Healing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(fault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detection,</a:t>
            </a:r>
            <a:r>
              <a:rPr dirty="0" sz="1100" spc="-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anomaly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detection,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root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cause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analysis,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recovery).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231836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Automated</a:t>
            </a:r>
            <a:r>
              <a:rPr dirty="0" sz="1100" spc="-1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Network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304" y="1231008"/>
            <a:ext cx="5623756" cy="95533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Automated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 spc="-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management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refers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spc="-16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 spc="19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of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AI,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machine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learning,</a:t>
            </a:r>
            <a:r>
              <a:rPr dirty="0" sz="1100" spc="-15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and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automation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frameworks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reduce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eliminate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manual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intervention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</a:t>
            </a:r>
            <a:r>
              <a:rPr dirty="0" sz="1100" spc="-2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managing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complex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networks.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Instead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of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relying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human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operators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every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configuration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troubleshooting</a:t>
            </a:r>
          </a:p>
          <a:p>
            <a:pPr marL="0" marR="0">
              <a:lnSpc>
                <a:spcPts val="1294"/>
              </a:lnSpc>
              <a:spcBef>
                <a:spcPts val="14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step,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becomes</a:t>
            </a:r>
            <a:r>
              <a:rPr dirty="0" sz="1100" spc="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self-managing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adapting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changes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real-time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while</a:t>
            </a:r>
            <a:r>
              <a:rPr dirty="0" sz="1100" spc="-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meeting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performance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reliability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goals.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3304" y="2299332"/>
            <a:ext cx="5585574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often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described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</a:t>
            </a:r>
            <a:r>
              <a:rPr dirty="0" sz="1100" spc="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"self-X"</a:t>
            </a:r>
            <a:r>
              <a:rPr dirty="0" sz="1100" spc="-12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model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Self-Configuration,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Self-Optimization,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and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Self-Healing.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147566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A.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Self-Configuration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304" y="1231008"/>
            <a:ext cx="5545515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This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ability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of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configure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itself</a:t>
            </a:r>
            <a:r>
              <a:rPr dirty="0" sz="1100" spc="-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automatically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without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extensive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human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input.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1709307" cy="5179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Key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elements:</a:t>
            </a:r>
          </a:p>
          <a:p>
            <a:pPr marL="228549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1.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Device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Discovery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054" y="1574395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57654" y="1546477"/>
            <a:ext cx="4685715" cy="3899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When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new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device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(router,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switch,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IoT</a:t>
            </a:r>
            <a:r>
              <a:rPr dirty="0" sz="1100" spc="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sensor,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 spc="-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base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station)</a:t>
            </a:r>
            <a:r>
              <a:rPr dirty="0" sz="1100" spc="-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added,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automatically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detects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it.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29054" y="2077314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57654" y="2049396"/>
            <a:ext cx="3183277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Example: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Plug-and-play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routers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home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71854" y="2364865"/>
            <a:ext cx="213223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2.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Configuration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Management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29054" y="2708250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57654" y="2680332"/>
            <a:ext cx="4266364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device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automatically</a:t>
            </a:r>
            <a:r>
              <a:rPr dirty="0" sz="1100" spc="-1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receives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appropriate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configurations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(e.g.,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IP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57654" y="2869308"/>
            <a:ext cx="4288043" cy="39030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address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assignment,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routing</a:t>
            </a:r>
            <a:r>
              <a:rPr dirty="0" sz="1100" spc="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policies,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security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settings)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from</a:t>
            </a:r>
            <a:r>
              <a:rPr dirty="0" sz="1100" spc="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central</a:t>
            </a:r>
          </a:p>
          <a:p>
            <a:pPr marL="0" marR="0">
              <a:lnSpc>
                <a:spcPts val="1294"/>
              </a:lnSpc>
              <a:spcBef>
                <a:spcPts val="184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controller.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29054" y="3400527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57654" y="3372610"/>
            <a:ext cx="4558363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SDN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(Software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Defined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Networking),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this</a:t>
            </a:r>
            <a:r>
              <a:rPr dirty="0" sz="1100" spc="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is</a:t>
            </a:r>
            <a:r>
              <a:rPr dirty="0" sz="1100" spc="1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often</a:t>
            </a:r>
            <a:r>
              <a:rPr dirty="0" sz="1100" spc="-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managed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via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central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57654" y="3561586"/>
            <a:ext cx="2445588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controller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(e.g.,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ONOS,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OpenDaylight).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71854" y="3877054"/>
            <a:ext cx="1632810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3.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Policy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Enforcement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29054" y="4220439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57654" y="4192522"/>
            <a:ext cx="459849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Ensures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devices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comply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with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organizational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policies,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such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as</a:t>
            </a:r>
            <a:r>
              <a:rPr dirty="0" sz="1100" spc="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security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rules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57654" y="4379974"/>
            <a:ext cx="1671284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bandwidth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allocations.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829054" y="4723360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57654" y="4695442"/>
            <a:ext cx="4296365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Example: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Automatically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ensuring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guest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Wi-Fi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isolated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from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internal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corporate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systems.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721789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Benefits: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854" y="1237062"/>
            <a:ext cx="210581" cy="82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  <a:p>
            <a:pPr marL="0" marR="0">
              <a:lnSpc>
                <a:spcPts val="1220"/>
              </a:lnSpc>
              <a:spcBef>
                <a:spcPts val="1263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  <a:p>
            <a:pPr marL="0" marR="0">
              <a:lnSpc>
                <a:spcPts val="1220"/>
              </a:lnSpc>
              <a:spcBef>
                <a:spcPts val="1263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0454" y="1231008"/>
            <a:ext cx="2371428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Reduces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manual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configuration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errors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00454" y="1546477"/>
            <a:ext cx="3304814" cy="5179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Speeds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up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deployment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of</a:t>
            </a:r>
            <a:r>
              <a:rPr dirty="0" sz="1100" spc="-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new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devices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 spc="-1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services</a:t>
            </a:r>
          </a:p>
          <a:p>
            <a:pPr marL="0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Supports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scalable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growth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of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large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(IoT,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5G)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43304" y="2492881"/>
            <a:ext cx="1433459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B.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Self-Optimization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43304" y="2808349"/>
            <a:ext cx="519303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Once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devices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are</a:t>
            </a:r>
            <a:r>
              <a:rPr dirty="0" sz="1100" spc="-1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configured,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 spc="-18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must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ensure</a:t>
            </a:r>
            <a:r>
              <a:rPr dirty="0" sz="1100" spc="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efficient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ongoing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operation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1992352" cy="5179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Key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aspects:</a:t>
            </a:r>
          </a:p>
          <a:p>
            <a:pPr marL="228549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1.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Routing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Optimization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054" y="1574395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57654" y="1546477"/>
            <a:ext cx="4433466" cy="3899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AI-powered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routing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algorithms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adjust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paths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based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congestion,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failures,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demand.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29054" y="2077314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57654" y="2049396"/>
            <a:ext cx="4701783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Example: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Google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B4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reroutes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real-time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high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utilization.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71854" y="2364865"/>
            <a:ext cx="168795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2.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Resource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Utilization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29054" y="2708250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57654" y="2680332"/>
            <a:ext cx="4669748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Bandwidth,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spectrum,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CPU,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storage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resources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allocated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dynamically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57654" y="2869308"/>
            <a:ext cx="1508082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based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usage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trends.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29054" y="3213075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57654" y="3185157"/>
            <a:ext cx="356630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Prevents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bottlenecks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predicting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high-demand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periods.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71854" y="3500626"/>
            <a:ext cx="1558470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3.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Parameter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Tuning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829054" y="3844012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57654" y="3816094"/>
            <a:ext cx="461504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fine-tunes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parameters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such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as</a:t>
            </a:r>
            <a:r>
              <a:rPr dirty="0" sz="1100" spc="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transmission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power,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channel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selection,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57654" y="4003546"/>
            <a:ext cx="869434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queue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sizes.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829054" y="4346932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057654" y="4319014"/>
            <a:ext cx="4373748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Example: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</a:t>
            </a:r>
            <a:r>
              <a:rPr dirty="0" sz="1100" spc="-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mobile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adjusting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base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station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transmit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power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balance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coverage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load.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721789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Benefits: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854" y="1237062"/>
            <a:ext cx="210581" cy="82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  <a:p>
            <a:pPr marL="0" marR="0">
              <a:lnSpc>
                <a:spcPts val="1220"/>
              </a:lnSpc>
              <a:spcBef>
                <a:spcPts val="1263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  <a:p>
            <a:pPr marL="0" marR="0">
              <a:lnSpc>
                <a:spcPts val="1220"/>
              </a:lnSpc>
              <a:spcBef>
                <a:spcPts val="1263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0454" y="1231008"/>
            <a:ext cx="236669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Higher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throughput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lower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latency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00454" y="1546477"/>
            <a:ext cx="3298784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Energy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efficiency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(unused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resources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powered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down)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00454" y="1861944"/>
            <a:ext cx="4906063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Improved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Quality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of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Service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(QoS)</a:t>
            </a:r>
            <a:r>
              <a:rPr dirty="0" sz="1100" spc="11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Quality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of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Experience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(QoE)</a:t>
            </a:r>
            <a:r>
              <a:rPr dirty="0" sz="1100" spc="13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users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4910"/>
            <a:ext cx="2958631" cy="23901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5.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Network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Analytics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and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Fault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Detection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304" y="1147189"/>
            <a:ext cx="5580424" cy="578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Framework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includes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data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collection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(SNMP,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NetFlow,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logs),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analytics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(descriptive,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predictive,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prescriptive),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fault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detection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(statistical,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ML-based,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time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series).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Automated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troubleshooting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techniques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such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expert</a:t>
            </a:r>
            <a:r>
              <a:rPr dirty="0" sz="1100" spc="-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systems,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case-based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reasoning,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NLP.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2618310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Network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Analytics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Fault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Detection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304" y="1231008"/>
            <a:ext cx="5349131" cy="95533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Modern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are</a:t>
            </a:r>
            <a:r>
              <a:rPr dirty="0" sz="1100" spc="-1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complex,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with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high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volumes,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distributed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resources,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heterogeneous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devices.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maintain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reliability,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performance,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security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operators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analytics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frameworks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automated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fault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detection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machine</a:t>
            </a:r>
          </a:p>
          <a:p>
            <a:pPr marL="0" marR="0">
              <a:lnSpc>
                <a:spcPts val="1294"/>
              </a:lnSpc>
              <a:spcBef>
                <a:spcPts val="14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learning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play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key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role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</a:t>
            </a:r>
            <a:r>
              <a:rPr dirty="0" sz="1100" spc="-2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understanding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behavior,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problems,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resolving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issues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without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human</a:t>
            </a:r>
            <a:r>
              <a:rPr dirty="0" sz="1100" spc="-1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intervention.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1280586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A.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Data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Collection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304" y="1231008"/>
            <a:ext cx="5576393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Effective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analytics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fault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detection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require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comprehensive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accurate</a:t>
            </a:r>
            <a:r>
              <a:rPr dirty="0" sz="1100" spc="19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data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collection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from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</a:t>
            </a:r>
            <a:r>
              <a:rPr dirty="0" sz="1100" spc="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network.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Common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sources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include: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1854" y="1733929"/>
            <a:ext cx="3369702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1.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SNMP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(Simple</a:t>
            </a:r>
            <a:r>
              <a:rPr dirty="0" sz="1100" spc="-11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Network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Management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Protocol)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29054" y="2077314"/>
            <a:ext cx="228307" cy="4968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57654" y="2049396"/>
            <a:ext cx="319296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Monitors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device</a:t>
            </a:r>
            <a:r>
              <a:rPr dirty="0" sz="1100" spc="-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status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(routers,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switches,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servers).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57654" y="2364865"/>
            <a:ext cx="4325889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Collects</a:t>
            </a:r>
            <a:r>
              <a:rPr dirty="0" sz="1100" spc="-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metrics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such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as</a:t>
            </a:r>
            <a:r>
              <a:rPr dirty="0" sz="1100" spc="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CPU/memory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usage,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interface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errors,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link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status.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71854" y="2869308"/>
            <a:ext cx="2134750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2.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Flow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Data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(NetFlow,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sFlow)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829054" y="3213075"/>
            <a:ext cx="228307" cy="4968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57654" y="3185157"/>
            <a:ext cx="4684353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Captures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patterns,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communication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between</a:t>
            </a:r>
            <a:r>
              <a:rPr dirty="0" sz="1100" spc="-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sources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destinations.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57654" y="3500626"/>
            <a:ext cx="4257149" cy="3899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Useful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monitoring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bandwidth,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detecting</a:t>
            </a:r>
            <a:r>
              <a:rPr dirty="0" sz="1100" spc="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anomalies,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analyzing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application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usage.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71854" y="4003546"/>
            <a:ext cx="944633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3.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Log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Files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829054" y="4346932"/>
            <a:ext cx="228307" cy="4968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57654" y="4319014"/>
            <a:ext cx="2950682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System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logs,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application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logs,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security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logs.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57654" y="4634482"/>
            <a:ext cx="4619198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Contains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error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messages,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warnings,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event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histories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that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help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root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causes.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226435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B.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Network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Analytics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Techniques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304" y="1231008"/>
            <a:ext cx="5619462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Analytics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transform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raw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data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actionable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insights.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These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typically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divided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into</a:t>
            </a:r>
            <a:r>
              <a:rPr dirty="0" sz="1100" spc="19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three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levels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1854" y="1733929"/>
            <a:ext cx="1741996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1.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Descriptive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Analytics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29054" y="2077314"/>
            <a:ext cx="228307" cy="812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57654" y="2049396"/>
            <a:ext cx="2608014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Summarizes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historical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behavior.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57654" y="2364865"/>
            <a:ext cx="3975742" cy="5179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Example: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Average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throughput,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peak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hours,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error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rates.</a:t>
            </a:r>
          </a:p>
          <a:p>
            <a:pPr marL="0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Tools: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dashboards,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charts,</a:t>
            </a:r>
            <a:r>
              <a:rPr dirty="0" sz="1100" spc="-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tables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 spc="-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monitoring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health.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71854" y="2996181"/>
            <a:ext cx="1665863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2.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Predictive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Analytics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829054" y="3339567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57654" y="3311650"/>
            <a:ext cx="4380136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statistical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models</a:t>
            </a:r>
            <a:r>
              <a:rPr dirty="0" sz="1100" spc="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 spc="1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forecast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future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events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performance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57654" y="3500626"/>
            <a:ext cx="90834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degradation.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829054" y="3844012"/>
            <a:ext cx="228307" cy="4953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93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57654" y="3816094"/>
            <a:ext cx="4146795" cy="5164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Example: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Predicting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link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congestion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potential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hardware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failures.</a:t>
            </a:r>
          </a:p>
          <a:p>
            <a:pPr marL="0" marR="0">
              <a:lnSpc>
                <a:spcPts val="1294"/>
              </a:lnSpc>
              <a:spcBef>
                <a:spcPts val="1177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Methods: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ARIMA,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LSTM,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Random</a:t>
            </a:r>
            <a:r>
              <a:rPr dirty="0" sz="1100" spc="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Forests,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Gradient</a:t>
            </a:r>
            <a:r>
              <a:rPr dirty="0" sz="1100" spc="-18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Boosting.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71854" y="4445506"/>
            <a:ext cx="1793873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3.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Prescriptive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Analytics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29054" y="4788892"/>
            <a:ext cx="228307" cy="4968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57654" y="4760974"/>
            <a:ext cx="4707696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Provides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actionable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recommendations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optimize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correct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57654" y="5076442"/>
            <a:ext cx="4020398" cy="3917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trigger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automated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actions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resource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allocation,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routing,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</a:p>
          <a:p>
            <a:pPr marL="0" marR="0">
              <a:lnSpc>
                <a:spcPts val="1294"/>
              </a:lnSpc>
              <a:spcBef>
                <a:spcPts val="195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configuration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changes.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829054" y="5609058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57654" y="5581140"/>
            <a:ext cx="4534992" cy="3899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Example: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Recommending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rerouting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from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</a:t>
            </a:r>
            <a:r>
              <a:rPr dirty="0" sz="1100" spc="-19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overloaded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link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before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SLA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violations</a:t>
            </a:r>
            <a:r>
              <a:rPr dirty="0" sz="1100" spc="-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occur.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127764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C.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Fault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Detection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304" y="1231008"/>
            <a:ext cx="5470726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Fault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detection</a:t>
            </a:r>
            <a:r>
              <a:rPr dirty="0" sz="1100" spc="-1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identifies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deviations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from</a:t>
            </a:r>
            <a:r>
              <a:rPr dirty="0" sz="1100" spc="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normal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operation,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enabling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quick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diagnosis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resolution.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Methods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include: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1854" y="1733929"/>
            <a:ext cx="1602209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1.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Statistical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Methods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29054" y="2077314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57654" y="2049396"/>
            <a:ext cx="4074348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Threshold-based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detection: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triggers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alerts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when</a:t>
            </a:r>
            <a:r>
              <a:rPr dirty="0" sz="1100" spc="-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metrics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exceed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57654" y="2238372"/>
            <a:ext cx="1206354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predefined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limits.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29054" y="2581759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57654" y="2553841"/>
            <a:ext cx="4448127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Control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charts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/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SPC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(Statistical</a:t>
            </a:r>
            <a:r>
              <a:rPr dirty="0" sz="1100" spc="-18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Process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Control):</a:t>
            </a:r>
            <a:r>
              <a:rPr dirty="0" sz="1100" spc="19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monitor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variations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57654" y="2741293"/>
            <a:ext cx="2908900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over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time,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flag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statistically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significant</a:t>
            </a:r>
            <a:r>
              <a:rPr dirty="0" sz="1100" spc="-19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changes.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71854" y="3057142"/>
            <a:ext cx="2544557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2.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Machine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Learning-based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Methods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829054" y="3400527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57654" y="3372610"/>
            <a:ext cx="4708437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Supervised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Learning: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classification</a:t>
            </a:r>
            <a:r>
              <a:rPr dirty="0" sz="1100" spc="-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models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trained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labeled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data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(normal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57654" y="3561586"/>
            <a:ext cx="130099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vs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faulty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behavior).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29054" y="3904971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57654" y="3877054"/>
            <a:ext cx="431166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Unsupervised</a:t>
            </a:r>
            <a:r>
              <a:rPr dirty="0" sz="1100" spc="-11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Learning: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detects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anomalies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without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prior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labels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(e.g.,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57654" y="4064506"/>
            <a:ext cx="184752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clustering,</a:t>
            </a:r>
            <a:r>
              <a:rPr dirty="0" sz="1100" spc="-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isolation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forests).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371854" y="4379974"/>
            <a:ext cx="1708487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3.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Time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Series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Analysis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829054" y="4723360"/>
            <a:ext cx="228307" cy="4968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57654" y="4695442"/>
            <a:ext cx="3634757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Detects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trends,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seasonality,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abrupt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changes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</a:t>
            </a:r>
            <a:r>
              <a:rPr dirty="0" sz="1100" spc="-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metrics.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057654" y="5010910"/>
            <a:ext cx="4642267" cy="3917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Methods: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ARIMA,</a:t>
            </a:r>
            <a:r>
              <a:rPr dirty="0" sz="1100" spc="-1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seasonal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decomposition,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LSTM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autoencoders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anomaly</a:t>
            </a:r>
          </a:p>
          <a:p>
            <a:pPr marL="0" marR="0">
              <a:lnSpc>
                <a:spcPts val="1294"/>
              </a:lnSpc>
              <a:spcBef>
                <a:spcPts val="195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detection.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1231008"/>
            <a:ext cx="2132980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D.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Automated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Troubleshooting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304" y="1546477"/>
            <a:ext cx="5562945" cy="3899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Once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fault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is</a:t>
            </a:r>
            <a:r>
              <a:rPr dirty="0" sz="1100" spc="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detected,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automated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troubleshooting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applies</a:t>
            </a:r>
            <a:r>
              <a:rPr dirty="0" sz="1100" spc="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AI</a:t>
            </a:r>
            <a:r>
              <a:rPr dirty="0" sz="1100" spc="-17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techniques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diagnose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resolve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issues: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1854" y="2049396"/>
            <a:ext cx="1363996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1.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Expert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Systems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29054" y="2392783"/>
            <a:ext cx="228307" cy="4968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57654" y="2364865"/>
            <a:ext cx="3590732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Encode</a:t>
            </a:r>
            <a:r>
              <a:rPr dirty="0" sz="1100" spc="-1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human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 spc="-18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management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knowledge</a:t>
            </a:r>
            <a:r>
              <a:rPr dirty="0" sz="1100" spc="-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rules.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57654" y="2680332"/>
            <a:ext cx="4429050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Example: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IF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packet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loss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&gt;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5%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AND</a:t>
            </a:r>
            <a:r>
              <a:rPr dirty="0" sz="1100" spc="-12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interface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errors</a:t>
            </a:r>
            <a:r>
              <a:rPr dirty="0" sz="1100" spc="1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&gt;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100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→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recommend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57654" y="2869308"/>
            <a:ext cx="104497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interface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reset.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71854" y="3185157"/>
            <a:ext cx="2218003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2.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Case-Based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Reasoning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(CBR)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29054" y="3528544"/>
            <a:ext cx="228307" cy="4968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57654" y="3500626"/>
            <a:ext cx="2700550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past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incidents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solve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new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problems.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57654" y="3816094"/>
            <a:ext cx="4682740" cy="3899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Matches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current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anomalies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historical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cases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proposes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similar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solutions.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71854" y="4319014"/>
            <a:ext cx="264412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3.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Natural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Language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Processing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(NLP)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829054" y="4662400"/>
            <a:ext cx="228307" cy="4968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57654" y="4634482"/>
            <a:ext cx="4621539" cy="5179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Analyzes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logs,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tickets,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 spc="-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documentation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extract</a:t>
            </a:r>
            <a:r>
              <a:rPr dirty="0" sz="1100" spc="-1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root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causes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 spc="-1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solutions.</a:t>
            </a:r>
          </a:p>
          <a:p>
            <a:pPr marL="0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Example: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Parsing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syslogs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detect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recurring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error</a:t>
            </a:r>
            <a:r>
              <a:rPr dirty="0" sz="1100" spc="-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patterns.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4529080" cy="8334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E.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Workflow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of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Automated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Fault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Detection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Resolution</a:t>
            </a:r>
          </a:p>
          <a:p>
            <a:pPr marL="228549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1.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Monitoring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→</a:t>
            </a:r>
            <a:r>
              <a:rPr dirty="0" sz="1100" spc="-12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Continuous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collection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of</a:t>
            </a:r>
            <a:r>
              <a:rPr dirty="0" sz="1100" spc="1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SNMP,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flow,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log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data.</a:t>
            </a:r>
          </a:p>
          <a:p>
            <a:pPr marL="228549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2.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Detection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→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Statistical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or</a:t>
            </a:r>
            <a:r>
              <a:rPr dirty="0" sz="1100" spc="-12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ML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models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identify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anomalies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faults.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854" y="1861944"/>
            <a:ext cx="482109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3.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Diagnosis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→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Root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cause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analysis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using</a:t>
            </a:r>
            <a:r>
              <a:rPr dirty="0" sz="1100" spc="11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AI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(expert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system,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CBR,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correlation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0454" y="2049396"/>
            <a:ext cx="718024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analysis).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71854" y="2364865"/>
            <a:ext cx="5249553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4.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Action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→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Prescriptive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recommendation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automated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remediation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(reconfiguring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00454" y="2553841"/>
            <a:ext cx="1696802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devices,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rerouting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traffic).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71854" y="2869308"/>
            <a:ext cx="4860600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5.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Feedback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/</a:t>
            </a:r>
            <a:r>
              <a:rPr dirty="0" sz="1100" spc="-1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Learning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→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Update</a:t>
            </a:r>
            <a:r>
              <a:rPr dirty="0" sz="1100" spc="-16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models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based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on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results,</a:t>
            </a:r>
            <a:r>
              <a:rPr dirty="0" sz="1100" spc="-11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improving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future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00454" y="3057142"/>
            <a:ext cx="1640438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detection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resolution.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4910"/>
            <a:ext cx="3057766" cy="23901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6.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Implementation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Technologies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and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Tools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304" y="1147189"/>
            <a:ext cx="5223593" cy="578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Languages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&amp;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Libraries: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Python,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Pandas,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Scikit-learn,</a:t>
            </a:r>
            <a:r>
              <a:rPr dirty="0" sz="1100" spc="-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TensorFlow/PyTorch,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NetworkX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Monitoring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Tools: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Wireshark,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Nagios/Zabbix,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ELK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Stack,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Grafana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Simulation: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Mininet,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GNS3,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NS-3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2883088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6.</a:t>
            </a:r>
            <a:r>
              <a:rPr dirty="0" sz="1100" spc="-1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Implementation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Technologies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and</a:t>
            </a:r>
            <a:r>
              <a:rPr dirty="0" sz="1100" spc="-12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Tools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304" y="1231008"/>
            <a:ext cx="5544483" cy="7678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Implementing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AI-powered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optimization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management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requires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combination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of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programming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languages,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libraries,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monitoring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tools,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simulation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platforms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.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These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tools</a:t>
            </a:r>
            <a:r>
              <a:rPr dirty="0" sz="1100" spc="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allow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engineers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researchers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 spc="2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collect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data,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build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models,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test</a:t>
            </a:r>
          </a:p>
          <a:p>
            <a:pPr marL="0" marR="0">
              <a:lnSpc>
                <a:spcPts val="1294"/>
              </a:lnSpc>
              <a:spcBef>
                <a:spcPts val="143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algorithms,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monitor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networks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in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real-time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2800366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A.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Programming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Languages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and</a:t>
            </a:r>
            <a:r>
              <a:rPr dirty="0" sz="1100" spc="-12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Libraries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854" y="1231008"/>
            <a:ext cx="840814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1.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Python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29054" y="1574395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57654" y="1546477"/>
            <a:ext cx="4192458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Primary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language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AI/ML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development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due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simplicity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rich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57654" y="1733929"/>
            <a:ext cx="809419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ecosystem.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29054" y="2077314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57654" y="2049396"/>
            <a:ext cx="3999624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Widely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building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predictive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models,</a:t>
            </a:r>
            <a:r>
              <a:rPr dirty="0" sz="1100" spc="-1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automating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management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tasks,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integrating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with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devices.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71854" y="2553841"/>
            <a:ext cx="849292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2.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Pandas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29054" y="2897226"/>
            <a:ext cx="228307" cy="497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8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57654" y="2869308"/>
            <a:ext cx="403189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Provides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high-performance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data</a:t>
            </a:r>
            <a:r>
              <a:rPr dirty="0" sz="1100" spc="-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manipulation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 spc="-1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analysis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tools.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57654" y="3185157"/>
            <a:ext cx="4186354" cy="3899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process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logs,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SNMP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data,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time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series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metrics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modeling.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71854" y="3688078"/>
            <a:ext cx="112854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3.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Scikit-learn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829054" y="4031464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57654" y="4003546"/>
            <a:ext cx="4263674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Machine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learning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library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classification,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regression,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clustering,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57654" y="4192522"/>
            <a:ext cx="103308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preprocessing.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829054" y="4535908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057654" y="4507990"/>
            <a:ext cx="4269144" cy="3899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Suitable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building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predictive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models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fault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detection,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anomaly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analysis.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1854" y="915541"/>
            <a:ext cx="182355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4.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TensorFlow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/</a:t>
            </a:r>
            <a:r>
              <a:rPr dirty="0" sz="1100" spc="-1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PyTorch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054" y="1258926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57654" y="1231008"/>
            <a:ext cx="463871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Deep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learning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frameworks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building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advanced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models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such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as</a:t>
            </a:r>
            <a:r>
              <a:rPr dirty="0" sz="1100" spc="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LSTMs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57654" y="1419984"/>
            <a:ext cx="3538153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autoencoders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anomaly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detection.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29054" y="1761847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57654" y="1733929"/>
            <a:ext cx="279547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Support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GPU</a:t>
            </a:r>
            <a:r>
              <a:rPr dirty="0" sz="1100" spc="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acceleration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faster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training.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71854" y="2049396"/>
            <a:ext cx="1025347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5.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NetworkX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829054" y="2392783"/>
            <a:ext cx="228307" cy="4968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57654" y="2364865"/>
            <a:ext cx="3613584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Python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library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analysis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graph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algorithms.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57654" y="2680332"/>
            <a:ext cx="4703749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Helps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model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topology,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analyze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routing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paths,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simulate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metrics.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2003844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B.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Network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Monitoring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Tools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854" y="1231008"/>
            <a:ext cx="1067569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1.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Wireshark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29054" y="1574395"/>
            <a:ext cx="228307" cy="4968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57654" y="1546477"/>
            <a:ext cx="4662460" cy="5179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Packet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capture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analysis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tool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monitoring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real-time.</a:t>
            </a:r>
          </a:p>
          <a:p>
            <a:pPr marL="0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troubleshooting,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protocol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analysis,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inspecting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patterns.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71854" y="2177413"/>
            <a:ext cx="1381018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2.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Nagios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/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Zabbix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29054" y="2520799"/>
            <a:ext cx="228307" cy="4968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57654" y="2492881"/>
            <a:ext cx="314557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infrastructure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monitoring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platforms.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57654" y="2808349"/>
            <a:ext cx="4556412" cy="39030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Track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availability,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performance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metrics,</a:t>
            </a:r>
            <a:r>
              <a:rPr dirty="0" sz="1100" spc="-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generate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alerts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failures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</a:p>
          <a:p>
            <a:pPr marL="0" marR="0">
              <a:lnSpc>
                <a:spcPts val="1294"/>
              </a:lnSpc>
              <a:spcBef>
                <a:spcPts val="184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SLA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violations.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71854" y="3311650"/>
            <a:ext cx="3153360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3.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ELK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Stack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(Elasticsearch,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Logstash,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Kibana)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29054" y="3655035"/>
            <a:ext cx="228307" cy="4968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57654" y="3627118"/>
            <a:ext cx="3252690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Centralized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management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analytics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platform.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57654" y="3942586"/>
            <a:ext cx="4150946" cy="3899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Collects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logs,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processes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them</a:t>
            </a:r>
            <a:r>
              <a:rPr dirty="0" sz="1100" spc="1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 spc="-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insights,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visualizes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trends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anomalies.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71854" y="4445506"/>
            <a:ext cx="891659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4.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Grafana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29054" y="4788892"/>
            <a:ext cx="228307" cy="4968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57654" y="4760974"/>
            <a:ext cx="2793648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Metrics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visualization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dashboarding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tool.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57654" y="5076442"/>
            <a:ext cx="4474407" cy="3917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Often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with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Prometheus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ELK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display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KPIs,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trends,</a:t>
            </a:r>
            <a:r>
              <a:rPr dirty="0" sz="1100" spc="-1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</a:p>
          <a:p>
            <a:pPr marL="0" marR="0">
              <a:lnSpc>
                <a:spcPts val="1294"/>
              </a:lnSpc>
              <a:spcBef>
                <a:spcPts val="195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real-time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alerts.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1231008"/>
            <a:ext cx="2443396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C.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Simulation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and</a:t>
            </a:r>
            <a:r>
              <a:rPr dirty="0" sz="1100" spc="-13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Testing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Platforms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304" y="1546477"/>
            <a:ext cx="5115019" cy="3899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Simulation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tools</a:t>
            </a:r>
            <a:r>
              <a:rPr dirty="0" sz="1100" spc="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allow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testing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of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algorithms,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configurations,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</a:t>
            </a:r>
            <a:r>
              <a:rPr dirty="0" sz="1100" spc="-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models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without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affecting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real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production</a:t>
            </a:r>
            <a:r>
              <a:rPr dirty="0" sz="1100" spc="1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networks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1854" y="2049396"/>
            <a:ext cx="88143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1.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Mininet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29054" y="2392783"/>
            <a:ext cx="228307" cy="4968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57654" y="2364865"/>
            <a:ext cx="3281573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Lightweight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emulator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 spc="-1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SDN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experiments.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57654" y="2680332"/>
            <a:ext cx="4539604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simulate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hosts,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switches,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links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 spc="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test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routing,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load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balancing,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AI-based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control.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71854" y="3185157"/>
            <a:ext cx="721324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2.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GNS3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829054" y="3528544"/>
            <a:ext cx="228307" cy="4968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57654" y="3500626"/>
            <a:ext cx="4184092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Graphical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simulator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device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images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(Cisco,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Juniper).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57654" y="3816094"/>
            <a:ext cx="4449965" cy="3899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Useful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testing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 spc="-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protocols,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routing,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fault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scenarios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lab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environment.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71854" y="4319014"/>
            <a:ext cx="2161213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3.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NS-3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(Network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Simulator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3)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829054" y="4662400"/>
            <a:ext cx="228307" cy="4968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57654" y="4634482"/>
            <a:ext cx="4669409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Discrete-event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simulator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research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 spc="-1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performance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evaluation.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57654" y="4949950"/>
            <a:ext cx="4670367" cy="3901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Allows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simulation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of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complex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models,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testing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AI-based</a:t>
            </a:r>
          </a:p>
          <a:p>
            <a:pPr marL="0" marR="0">
              <a:lnSpc>
                <a:spcPts val="1294"/>
              </a:lnSpc>
              <a:spcBef>
                <a:spcPts val="18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resource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allocation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strategies.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2420043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D.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How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These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Tools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Work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Together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854" y="1231008"/>
            <a:ext cx="5235677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1.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Data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Collection: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Wireshark,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Nagios/Zabbix,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ELK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Stack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gather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 spc="-1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store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real-time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0454" y="1419984"/>
            <a:ext cx="1169760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metrics.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71854" y="1733929"/>
            <a:ext cx="5305849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2.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Analytics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&amp;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Modeling: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Python,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Pandas,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Scikit-learn,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TensorFlow/PyTorch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process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00454" y="1922905"/>
            <a:ext cx="3200953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data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train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predictive</a:t>
            </a:r>
            <a:r>
              <a:rPr dirty="0" sz="1100" spc="-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prescriptive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models.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71854" y="2238372"/>
            <a:ext cx="5144247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3.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Topology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&amp;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Network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Analysis: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NetworkX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helps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model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routing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00454" y="2427349"/>
            <a:ext cx="1922677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optimization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fault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analysis.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71854" y="2741293"/>
            <a:ext cx="5317092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4.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Simulation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&amp;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Testing: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Mininet,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GNS3,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NS-3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allow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safe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experimentation</a:t>
            </a:r>
            <a:r>
              <a:rPr dirty="0" sz="1100" spc="-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before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00454" y="2930268"/>
            <a:ext cx="227151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deploying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policies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production.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71854" y="3246118"/>
            <a:ext cx="5339236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5.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Visualization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&amp;</a:t>
            </a:r>
            <a:r>
              <a:rPr dirty="0" sz="1100" spc="-14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Monitoring: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Grafana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dashboards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display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KPIs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 spc="-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health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00454" y="3435094"/>
            <a:ext cx="2244744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operators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decision-making.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4910"/>
            <a:ext cx="5358770" cy="623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7.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Case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Studies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and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Real-World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Applications</a:t>
            </a:r>
          </a:p>
          <a:p>
            <a:pPr marL="0" marR="0">
              <a:lnSpc>
                <a:spcPts val="1294"/>
              </a:lnSpc>
              <a:spcBef>
                <a:spcPts val="2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-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Google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B4</a:t>
            </a:r>
            <a:r>
              <a:rPr dirty="0" sz="1100" spc="-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optimization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near-100%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link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utilization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-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Facebook: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capacity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planning,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fault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detection,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load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balancing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304" y="1523617"/>
            <a:ext cx="543611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-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Cisco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DNA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Center: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Automated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provisioning,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AI-powered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analytics,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predictive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resolution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282909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Case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Studies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Real-World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304" y="1231008"/>
            <a:ext cx="5509681" cy="578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Real-world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deployments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of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 spc="-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management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demonstrate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how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self-configuring,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self-optimizing,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self-healing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improve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performance,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reliability,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cost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efficiency.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3304" y="2238372"/>
            <a:ext cx="1539448" cy="5179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A.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Google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B4</a:t>
            </a:r>
            <a:r>
              <a:rPr dirty="0" sz="1100" spc="-11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Network</a:t>
            </a:r>
          </a:p>
          <a:p>
            <a:pPr marL="0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Overview: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71854" y="2875362"/>
            <a:ext cx="210581" cy="1930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00454" y="2869308"/>
            <a:ext cx="488826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Google’s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B4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is</a:t>
            </a:r>
            <a:r>
              <a:rPr dirty="0" sz="1100" spc="16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a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Software-Defined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WAN</a:t>
            </a:r>
            <a:r>
              <a:rPr dirty="0" sz="1100" spc="14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(SD-WAN)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connecting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its</a:t>
            </a:r>
            <a:r>
              <a:rPr dirty="0" sz="1100" spc="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data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centers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00454" y="3057142"/>
            <a:ext cx="831669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worldwide.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71854" y="3378663"/>
            <a:ext cx="210581" cy="1930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00454" y="3372610"/>
            <a:ext cx="4329564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centralized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traffic</a:t>
            </a:r>
            <a:r>
              <a:rPr dirty="0" sz="1100" spc="-13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engineering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optimize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utilization.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183430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AI/Analytics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Applications: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854" y="1231008"/>
            <a:ext cx="1556894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1.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Traffic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Prediction: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29054" y="1574395"/>
            <a:ext cx="228307" cy="4968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57654" y="1546477"/>
            <a:ext cx="4718004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Analyzes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historical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patterns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forecast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demand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between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data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centers.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57654" y="1861944"/>
            <a:ext cx="4496125" cy="3899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Predictive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analytics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allows</a:t>
            </a:r>
            <a:r>
              <a:rPr dirty="0" sz="1100" spc="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pre-emptive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allocation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of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bandwidth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high-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demand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flows.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71854" y="2364865"/>
            <a:ext cx="1724442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2.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Traffic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Optimization: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29054" y="2708250"/>
            <a:ext cx="228307" cy="497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8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57654" y="2680332"/>
            <a:ext cx="4312268" cy="5183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Dynamically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adjusts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routing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balance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loads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across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multiple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links.</a:t>
            </a:r>
          </a:p>
          <a:p>
            <a:pPr marL="0" marR="0">
              <a:lnSpc>
                <a:spcPts val="1294"/>
              </a:lnSpc>
              <a:spcBef>
                <a:spcPts val="1192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Achieves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near-100%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utilization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of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backbone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links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without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congestion.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43304" y="3311650"/>
            <a:ext cx="721789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Benefits: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71854" y="3633171"/>
            <a:ext cx="210581" cy="82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  <a:p>
            <a:pPr marL="0" marR="0">
              <a:lnSpc>
                <a:spcPts val="1220"/>
              </a:lnSpc>
              <a:spcBef>
                <a:spcPts val="1263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  <a:p>
            <a:pPr marL="0" marR="0">
              <a:lnSpc>
                <a:spcPts val="1220"/>
              </a:lnSpc>
              <a:spcBef>
                <a:spcPts val="1263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00454" y="3627118"/>
            <a:ext cx="4085728" cy="8334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Maximized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link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usage,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reducing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extra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infrastructure.</a:t>
            </a:r>
          </a:p>
          <a:p>
            <a:pPr marL="0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Lower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latency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higher</a:t>
            </a:r>
            <a:r>
              <a:rPr dirty="0" sz="1100" spc="-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throughput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Google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services.</a:t>
            </a:r>
          </a:p>
          <a:p>
            <a:pPr marL="0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Improved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operational</a:t>
            </a:r>
            <a:r>
              <a:rPr dirty="0" sz="1100" spc="-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efficiency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with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automated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decision-making.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2376131" cy="5179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B.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Facebook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Network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Management</a:t>
            </a:r>
          </a:p>
          <a:p>
            <a:pPr marL="0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Overview: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854" y="1552530"/>
            <a:ext cx="210581" cy="5085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  <a:p>
            <a:pPr marL="0" marR="0">
              <a:lnSpc>
                <a:spcPts val="1220"/>
              </a:lnSpc>
              <a:spcBef>
                <a:spcPts val="1263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0454" y="1546477"/>
            <a:ext cx="502944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Facebook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operates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large-scale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global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connecting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data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centers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users.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00454" y="1861944"/>
            <a:ext cx="4560678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Heavily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relies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machine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learning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optimize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flows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resource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00454" y="2049396"/>
            <a:ext cx="769506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allocation.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183430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AI/Analytics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Applications: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854" y="1231008"/>
            <a:ext cx="1571756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1.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Capacity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Planning: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29054" y="1574395"/>
            <a:ext cx="228307" cy="4968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57654" y="1546477"/>
            <a:ext cx="4518206" cy="5179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models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forecast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future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resource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requirements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based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trends.</a:t>
            </a:r>
          </a:p>
          <a:p>
            <a:pPr marL="0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Ensures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expansion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upgrades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timely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efficient.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71854" y="2177413"/>
            <a:ext cx="140280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2.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Fault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Detection: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29054" y="2520799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57654" y="2492881"/>
            <a:ext cx="436531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Automated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anomaly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detection</a:t>
            </a:r>
            <a:r>
              <a:rPr dirty="0" sz="1100" spc="-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identifies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potential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hardware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failures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57654" y="2680332"/>
            <a:ext cx="1265369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misconfigurations.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29054" y="3024099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57654" y="2996181"/>
            <a:ext cx="387717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Reduces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downtime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triggering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preventive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actions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repairs.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71854" y="3311650"/>
            <a:ext cx="1995464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3.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Dynamic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Load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Balancing: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829054" y="3655035"/>
            <a:ext cx="228307" cy="4968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57654" y="3627118"/>
            <a:ext cx="4330749" cy="5179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ML-driven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load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balancing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distributes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avoid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congestion.</a:t>
            </a:r>
          </a:p>
          <a:p>
            <a:pPr marL="0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Optimizes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utilization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of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servers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links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across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data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centers.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43304" y="4258054"/>
            <a:ext cx="721789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Benefits: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371854" y="4579575"/>
            <a:ext cx="210581" cy="8242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  <a:p>
            <a:pPr marL="0" marR="0">
              <a:lnSpc>
                <a:spcPts val="1220"/>
              </a:lnSpc>
              <a:spcBef>
                <a:spcPts val="1263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  <a:p>
            <a:pPr marL="0" marR="0">
              <a:lnSpc>
                <a:spcPts val="1220"/>
              </a:lnSpc>
              <a:spcBef>
                <a:spcPts val="126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600454" y="4573522"/>
            <a:ext cx="3626204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Reduced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downtime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faster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response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 spc="-18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issues.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600454" y="4888990"/>
            <a:ext cx="4651826" cy="5181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Efficient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management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across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</a:t>
            </a:r>
            <a:r>
              <a:rPr dirty="0" sz="1100" spc="-1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highly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dynamic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environment.</a:t>
            </a:r>
          </a:p>
          <a:p>
            <a:pPr marL="0" marR="0">
              <a:lnSpc>
                <a:spcPts val="1294"/>
              </a:lnSpc>
              <a:spcBef>
                <a:spcPts val="119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Scalable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operations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without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proportionally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increasing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human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management.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1403816" cy="5179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C.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Cisco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DNA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Center</a:t>
            </a:r>
          </a:p>
          <a:p>
            <a:pPr marL="0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Overview: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854" y="1552530"/>
            <a:ext cx="210581" cy="1930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0454" y="1546477"/>
            <a:ext cx="4924253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Cisco</a:t>
            </a:r>
            <a:r>
              <a:rPr dirty="0" sz="1100" spc="-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DNA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Center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is</a:t>
            </a:r>
            <a:r>
              <a:rPr dirty="0" sz="1100" spc="1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intent-based</a:t>
            </a:r>
            <a:r>
              <a:rPr dirty="0" sz="1100" spc="-1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networking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(IBN)</a:t>
            </a:r>
            <a:r>
              <a:rPr dirty="0" sz="1100" spc="11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platform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enterprise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00454" y="1733929"/>
            <a:ext cx="74999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71854" y="2055450"/>
            <a:ext cx="210581" cy="1930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00454" y="2049396"/>
            <a:ext cx="4364949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Combines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automation,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analytics,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AI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simplify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management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00454" y="2238372"/>
            <a:ext cx="1142002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troubleshooting.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43304" y="2553841"/>
            <a:ext cx="183430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AI/Analytics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Applications: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71854" y="2869308"/>
            <a:ext cx="2574524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1.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Automated</a:t>
            </a:r>
            <a:r>
              <a:rPr dirty="0" sz="1100" spc="-1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Network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Provisioning: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29054" y="3213075"/>
            <a:ext cx="228307" cy="4968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57654" y="3185157"/>
            <a:ext cx="4582702" cy="5179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Devices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discovered</a:t>
            </a:r>
            <a:r>
              <a:rPr dirty="0" sz="1100" spc="-1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configured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automatically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according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policies.</a:t>
            </a:r>
          </a:p>
          <a:p>
            <a:pPr marL="0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Reduces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manual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setup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time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configuration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errors.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71854" y="3816094"/>
            <a:ext cx="180407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2.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AI-Powered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Analytics: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829054" y="4157956"/>
            <a:ext cx="228307" cy="4968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57654" y="4130038"/>
            <a:ext cx="3930595" cy="5179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Monitors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health,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experience,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patterns.</a:t>
            </a:r>
          </a:p>
          <a:p>
            <a:pPr marL="0" marR="0">
              <a:lnSpc>
                <a:spcPts val="1294"/>
              </a:lnSpc>
              <a:spcBef>
                <a:spcPts val="1189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Generates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insights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optimization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proactive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maintenance.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371854" y="4760974"/>
            <a:ext cx="2172407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3.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Predictive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Issue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Resolution: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829054" y="5104360"/>
            <a:ext cx="228307" cy="49711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7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057654" y="5076442"/>
            <a:ext cx="4637103" cy="51819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detect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potential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faults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before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impact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users.</a:t>
            </a:r>
          </a:p>
          <a:p>
            <a:pPr marL="0" marR="0">
              <a:lnSpc>
                <a:spcPts val="1294"/>
              </a:lnSpc>
              <a:spcBef>
                <a:spcPts val="119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Provides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prescriptive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recommendations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automated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remediation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actions.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5541"/>
            <a:ext cx="721789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Benefits: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854" y="1237062"/>
            <a:ext cx="210581" cy="82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  <a:p>
            <a:pPr marL="0" marR="0">
              <a:lnSpc>
                <a:spcPts val="1220"/>
              </a:lnSpc>
              <a:spcBef>
                <a:spcPts val="1263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  <a:p>
            <a:pPr marL="0" marR="0">
              <a:lnSpc>
                <a:spcPts val="1220"/>
              </a:lnSpc>
              <a:spcBef>
                <a:spcPts val="1263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JVJOSC+Symbol"/>
                <a:cs typeface="JVJOSC+Symbol"/>
              </a:rPr>
              <a:t>•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0454" y="1231008"/>
            <a:ext cx="2981668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Faster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deployment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of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new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devices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services.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00454" y="1546477"/>
            <a:ext cx="368761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Proactive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fault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management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reduced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operational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costs.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00454" y="1861944"/>
            <a:ext cx="4180446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Improved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service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quality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SLA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compliance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enterprise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clients.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43304" y="2492881"/>
            <a:ext cx="2319452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Key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Takeaways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from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Case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Studies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71854" y="2808349"/>
            <a:ext cx="2328038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1.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Predictive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Analytics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is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Crucial: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829054" y="3150591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57654" y="3122674"/>
            <a:ext cx="4552839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Forecasting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failures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allows</a:t>
            </a:r>
            <a:r>
              <a:rPr dirty="0" sz="1100" spc="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spc="-16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 spc="19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act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before</a:t>
            </a:r>
            <a:r>
              <a:rPr dirty="0" sz="1100" spc="-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issues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occur.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71854" y="3438142"/>
            <a:ext cx="1888906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2.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AI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Enables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Automation: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829054" y="3781527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57654" y="3753610"/>
            <a:ext cx="448908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Self-configuration,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optimization,</a:t>
            </a:r>
            <a:r>
              <a:rPr dirty="0" sz="1100" spc="-1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healing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reduce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human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intervention.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71854" y="4069078"/>
            <a:ext cx="2015375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3.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Scalability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and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Efficiency: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29054" y="4412464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57654" y="4384546"/>
            <a:ext cx="4326909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AI-driven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scale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globally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while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maintaining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performance.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371854" y="4700014"/>
            <a:ext cx="1636050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4.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Real-World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Impact: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829054" y="5043400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57654" y="5015482"/>
            <a:ext cx="418054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Google,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Facebook,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Cisco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demonstrate</a:t>
            </a:r>
            <a:r>
              <a:rPr dirty="0" sz="1100" spc="-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measurable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benefits: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high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57654" y="5204712"/>
            <a:ext cx="4041009" cy="3899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utilization,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reduced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downtime,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cost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efficiency,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improved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user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experience.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4910"/>
            <a:ext cx="5492078" cy="623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8.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Challenges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and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Future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Directions</a:t>
            </a:r>
          </a:p>
          <a:p>
            <a:pPr marL="0" marR="0">
              <a:lnSpc>
                <a:spcPts val="1294"/>
              </a:lnSpc>
              <a:spcBef>
                <a:spcPts val="2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Challenges: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Data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quality,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scalability,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real-time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processing,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security,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interpretability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Trends: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Edge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computing,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5G,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intent-based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networking,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digital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twins,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quantum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304" y="1651632"/>
            <a:ext cx="1380479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Current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Challenges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1854" y="1967101"/>
            <a:ext cx="1179030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1.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Data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Quality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29054" y="2308962"/>
            <a:ext cx="228307" cy="4968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  <a:p>
            <a:pPr marL="0" marR="0">
              <a:lnSpc>
                <a:spcPts val="1128"/>
              </a:lnSpc>
              <a:spcBef>
                <a:spcPts val="1355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57654" y="2281044"/>
            <a:ext cx="4572048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models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accurate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complete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data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training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predictions.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57654" y="2596513"/>
            <a:ext cx="4502788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Issues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like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missing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metrics,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inconsistent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logs,</a:t>
            </a:r>
            <a:r>
              <a:rPr dirty="0" sz="1100" spc="-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noisy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measurements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can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reduce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model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accuracy.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29054" y="3129256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57654" y="3101338"/>
            <a:ext cx="4594760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Example: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Incomplete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NetFlow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data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may</a:t>
            </a:r>
            <a:r>
              <a:rPr dirty="0" sz="1100" spc="-19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cause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incorrect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predictions.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71854" y="3416806"/>
            <a:ext cx="1049618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2.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Scalability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29054" y="3760191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57654" y="3732274"/>
            <a:ext cx="438132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generate</a:t>
            </a:r>
            <a:r>
              <a:rPr dirty="0" sz="1100" spc="-1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massive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amounts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of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data,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especially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global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IoT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57654" y="3919726"/>
            <a:ext cx="959417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deployments.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829054" y="4263112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57654" y="4235194"/>
            <a:ext cx="4716059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algorithms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analytics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platforms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must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scale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spc="-16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handle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high-dimensional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datasets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real-time.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371854" y="4739638"/>
            <a:ext cx="1774889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3.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Real-Time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Processing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829054" y="5083024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057654" y="5055106"/>
            <a:ext cx="4009913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decisions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(load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balancing,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fault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detection)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require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57654" y="5242812"/>
            <a:ext cx="2150177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millisecond-level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responsiveness.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829054" y="5586198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057654" y="5558280"/>
            <a:ext cx="4059967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models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must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process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streaming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data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quickly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make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reliable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predictions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under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latency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constraints.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371854" y="6062724"/>
            <a:ext cx="910952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4.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Security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829054" y="6406109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057654" y="6378191"/>
            <a:ext cx="4393619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systems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themselves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vulnerable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attacks,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such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as</a:t>
            </a:r>
            <a:r>
              <a:rPr dirty="0" sz="1100" spc="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adversarial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057654" y="6565643"/>
            <a:ext cx="1634409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inputs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data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poisoning.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829054" y="6909030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057654" y="6881112"/>
            <a:ext cx="4301734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 spc="-19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security</a:t>
            </a:r>
            <a:r>
              <a:rPr dirty="0" sz="1100" spc="-19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must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protect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both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models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underlying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infrastructure.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371854" y="7385937"/>
            <a:ext cx="1390884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5.</a:t>
            </a:r>
            <a:r>
              <a:rPr dirty="0" sz="1100" spc="7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 b="1">
                <a:solidFill>
                  <a:srgbClr val="000000"/>
                </a:solidFill>
                <a:latin typeface="BTNVWP+Cambria Bold"/>
                <a:cs typeface="BTNVWP+Cambria Bold"/>
              </a:rPr>
              <a:t>Interpretability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829054" y="7727799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057654" y="7699881"/>
            <a:ext cx="4710491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Complex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AI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models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(deep</a:t>
            </a:r>
            <a:r>
              <a:rPr dirty="0" sz="1100" spc="-14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learning,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ensemble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methods)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can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be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“black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MENVHP+Cambria"/>
                <a:cs typeface="MENVHP+Cambria"/>
              </a:rPr>
              <a:t>boxes,”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2057654" y="7888857"/>
            <a:ext cx="3817027" cy="2024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making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it</a:t>
            </a:r>
            <a:r>
              <a:rPr dirty="0" sz="1100" spc="-1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hard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operators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trust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understand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decisions.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829054" y="8232243"/>
            <a:ext cx="228307" cy="18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BLUCWF+Courier New"/>
                <a:cs typeface="BLUCWF+Courier New"/>
              </a:rPr>
              <a:t>o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2057654" y="8204325"/>
            <a:ext cx="4258682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Explainable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techniques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are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needed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interpret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recommendations,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especially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mission-critical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networks.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4910"/>
            <a:ext cx="1194584" cy="23901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Key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304" y="1147189"/>
            <a:ext cx="4731647" cy="9553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1.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transforms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 spc="-17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management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from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reactive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to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proactive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operations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2.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Time</a:t>
            </a:r>
            <a:r>
              <a:rPr dirty="0" sz="1100" spc="-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series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analysis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is</a:t>
            </a:r>
            <a:r>
              <a:rPr dirty="0" sz="1100" spc="-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crucial</a:t>
            </a:r>
            <a:r>
              <a:rPr dirty="0" sz="1100" spc="-14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traffic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prediction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capacity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planning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3.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Automated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systems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achieve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better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performance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than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manual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management</a:t>
            </a:r>
          </a:p>
          <a:p>
            <a:pPr marL="0" marR="0">
              <a:lnSpc>
                <a:spcPts val="1294"/>
              </a:lnSpc>
              <a:spcBef>
                <a:spcPts val="14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4.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Multi-objective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optimization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balances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competing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requirements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5.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Self-healing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reduces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downtime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costs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3304" y="2089020"/>
            <a:ext cx="2676720" cy="39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6.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Data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quality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is</a:t>
            </a:r>
            <a:r>
              <a:rPr dirty="0" sz="1100" spc="16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critical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AI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success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7.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Continuous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learning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ensures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adaptation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304" y="914910"/>
            <a:ext cx="5392977" cy="156556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Recommended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 </a:t>
            </a:r>
            <a:r>
              <a:rPr dirty="0" sz="1300" b="1">
                <a:solidFill>
                  <a:srgbClr val="4f81bd"/>
                </a:solidFill>
                <a:latin typeface="IHCODI+Calibri Bold"/>
                <a:cs typeface="IHCODI+Calibri Bold"/>
              </a:rPr>
              <a:t>Readings</a:t>
            </a:r>
          </a:p>
          <a:p>
            <a:pPr marL="0" marR="0">
              <a:lnSpc>
                <a:spcPts val="1294"/>
              </a:lnSpc>
              <a:spcBef>
                <a:spcPts val="2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1.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"Software-Defined</a:t>
            </a:r>
            <a:r>
              <a:rPr dirty="0" sz="1100" spc="-12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Networking: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Comprehensive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Survey"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-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IEEE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Communications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Surveys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2.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"Machine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Learning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 spc="-11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Networking: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Workflow,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Advances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Opportunities"</a:t>
            </a:r>
            <a:r>
              <a:rPr dirty="0" sz="1100" spc="15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-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IEEE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</a:p>
          <a:p>
            <a:pPr marL="0" marR="0">
              <a:lnSpc>
                <a:spcPts val="1294"/>
              </a:lnSpc>
              <a:spcBef>
                <a:spcPts val="18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3.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"AI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for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Operations: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Opportunities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Challenges"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-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ACM</a:t>
            </a:r>
            <a:r>
              <a:rPr dirty="0" sz="1100" spc="-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Computing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Surveys</a:t>
            </a:r>
          </a:p>
          <a:p>
            <a:pPr marL="0" marR="0">
              <a:lnSpc>
                <a:spcPts val="1294"/>
              </a:lnSpc>
              <a:spcBef>
                <a:spcPts val="14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4.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"Time</a:t>
            </a:r>
            <a:r>
              <a:rPr dirty="0" sz="1100" spc="-13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Series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Analysis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and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Its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Applications"</a:t>
            </a:r>
            <a:r>
              <a:rPr dirty="0" sz="1100" spc="1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-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Shumway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&amp;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Stoffer</a:t>
            </a:r>
          </a:p>
          <a:p>
            <a:pPr marL="0" marR="0">
              <a:lnSpc>
                <a:spcPts val="1294"/>
              </a:lnSpc>
              <a:spcBef>
                <a:spcPts val="19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5.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"Network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Analysis: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Methodological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Foundations"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-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Brandes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&amp;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 </a:t>
            </a:r>
            <a:r>
              <a:rPr dirty="0" sz="1100">
                <a:solidFill>
                  <a:srgbClr val="000000"/>
                </a:solidFill>
                <a:latin typeface="WGDGWK+Cambria"/>
                <a:cs typeface="WGDGWK+Cambria"/>
              </a:rPr>
              <a:t>Erlebach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mitype="http://purl.org/dc/dcmitype/" xmlns:dc="http://purl.org/dc/elements/1.1/" xmlns:dcterms="http://purl.org/dc/terms/" xmlns:xsi="http://www.w3.org/2001/XMLSchema-instance">
  <dc:title>Presentation PowerPoint</dc:title>
  <dc:creator>sejda</dc:creator>
  <cp:lastModifiedBy>sejda</cp:lastModifiedBy>
  <cp:revision>1</cp:revision>
  <dcterms:modified xsi:type="dcterms:W3CDTF">2025-09-25T20:32:45+02:00</dcterms:modified>
</cp:coreProperties>
</file>