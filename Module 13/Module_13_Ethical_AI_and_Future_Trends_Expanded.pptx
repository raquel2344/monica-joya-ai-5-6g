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13: Ethical AI and Future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3-Hour Standard Lecture</a:t>
            </a:r>
          </a:p>
          <a:p>
            <a:r>
              <a:t>Prepared for Academic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the end of this lecture, students should be able to:</a:t>
            </a:r>
          </a:p>
          <a:p>
            <a:r>
              <a:t>1. Explain the concept of ethical AI and its importance in modern society.</a:t>
            </a:r>
          </a:p>
          <a:p>
            <a:r>
              <a:t>2. Identify key ethical principles and frameworks guiding AI development.</a:t>
            </a:r>
          </a:p>
          <a:p>
            <a:r>
              <a:t>3. Discuss major ethical dilemmas and risks associated with AI.</a:t>
            </a:r>
          </a:p>
          <a:p>
            <a:r>
              <a:t>4. Explore global policies, standards, and governance structures for ethical AI.</a:t>
            </a:r>
          </a:p>
          <a:p>
            <a:r>
              <a:t>5. Examine emerging trends shaping the future of AI.</a:t>
            </a:r>
          </a:p>
          <a:p>
            <a:r>
              <a:t>6. Reflect on strategies for ensuring responsible and sustainable AI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Ethical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 of Ethical AI</a:t>
            </a:r>
          </a:p>
          <a:p>
            <a:r>
              <a:t>• The role of ethics in AI design and implementation</a:t>
            </a:r>
          </a:p>
          <a:p>
            <a:r>
              <a:t>• Historical evolution: from automation to algorithmic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Ethics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Prevents harm to individuals and society</a:t>
            </a:r>
          </a:p>
          <a:p>
            <a:r>
              <a:t>• Builds trust in AI systems</a:t>
            </a:r>
          </a:p>
          <a:p>
            <a:r>
              <a:t>• Ensures fairness and inclusivity</a:t>
            </a:r>
          </a:p>
          <a:p>
            <a:r>
              <a:t>• Enhances transparency and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Challenges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Bias and Discrimination</a:t>
            </a:r>
          </a:p>
          <a:p>
            <a:r>
              <a:t>2. Privacy and Surveillance</a:t>
            </a:r>
          </a:p>
          <a:p>
            <a:r>
              <a:t>3. Transparency and Explainability</a:t>
            </a:r>
          </a:p>
          <a:p>
            <a:r>
              <a:t>4. Accountability and Liability</a:t>
            </a:r>
          </a:p>
          <a:p>
            <a:r>
              <a:t>5. Misuse and unintended consequences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Example: Facial recognition errors in people of color</a:t>
            </a:r>
          </a:p>
          <a:p>
            <a:r>
              <a:t>• Causes: skewed data, poor labeling, biased algorithms</a:t>
            </a:r>
          </a:p>
          <a:p>
            <a:r>
              <a:t>• Solutions: diverse datasets, fairness audits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collection, consent, and usage</a:t>
            </a:r>
          </a:p>
          <a:p>
            <a:r>
              <a:t>• Surveillance capitalism</a:t>
            </a:r>
          </a:p>
          <a:p>
            <a:r>
              <a:t>• Right to be forgotten vs. data permanence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and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Black box models vs. interpretable AI</a:t>
            </a:r>
          </a:p>
          <a:p>
            <a:r>
              <a:t>• Need for explainable decision-making</a:t>
            </a:r>
          </a:p>
          <a:p>
            <a:r>
              <a:t>• User trust through algorithmic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Accountability and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Who is liable when AI fails?</a:t>
            </a:r>
          </a:p>
          <a:p>
            <a:r>
              <a:t>• The human-in-the-loop concept</a:t>
            </a:r>
          </a:p>
          <a:p>
            <a:r>
              <a:t>• Ethical auditing and algorithmic accountability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AI ever be completely unbiased? Why or why not?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Frameworks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IEEE Ethically Aligned Design</a:t>
            </a:r>
          </a:p>
          <a:p>
            <a:r>
              <a:t>• EU AI Ethics Guidelines</a:t>
            </a:r>
          </a:p>
          <a:p>
            <a:r>
              <a:t>• OECD AI Principles</a:t>
            </a:r>
          </a:p>
          <a:p>
            <a:r>
              <a:t>• UNESCO Recommendations on AI Ethics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Ethical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Fairness</a:t>
            </a:r>
          </a:p>
          <a:p>
            <a:r>
              <a:t>2. Accountability</a:t>
            </a:r>
          </a:p>
          <a:p>
            <a:r>
              <a:t>3. Transparency</a:t>
            </a:r>
          </a:p>
          <a:p>
            <a:r>
              <a:t>4. Beneficence</a:t>
            </a:r>
          </a:p>
          <a:p>
            <a:r>
              <a:t>5. Non-maleficence</a:t>
            </a:r>
          </a:p>
          <a:p>
            <a:r>
              <a:t>6. Privacy &amp; Autonomy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Ethics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AI Principles</a:t>
            </a:r>
          </a:p>
          <a:p>
            <a:r>
              <a:t>• Microsoft Responsible AI Framework</a:t>
            </a:r>
          </a:p>
          <a:p>
            <a:r>
              <a:t>• IBM AI Ethics 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activity:</a:t>
            </a:r>
          </a:p>
          <a:p>
            <a:r>
              <a:t>1. Review assigned ethical scenario.</a:t>
            </a:r>
          </a:p>
          <a:p>
            <a:r>
              <a:t>2. Identify violated principles.</a:t>
            </a:r>
          </a:p>
          <a:p>
            <a:r>
              <a:t>3. Propose a solution.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in AI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COMPAS Algorithm – Bias in criminal sentencing</a:t>
            </a:r>
          </a:p>
          <a:p>
            <a:r>
              <a:t>2. Cambridge Analytica – Data privacy and manipulation</a:t>
            </a:r>
          </a:p>
          <a:p>
            <a:r>
              <a:t>3. Autonomous Vehicles – The Trolley Problem</a:t>
            </a:r>
          </a:p>
          <a:p>
            <a:r>
              <a:t>4. Generative AI – IP and misinformation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COMPAS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in US courts to predict recidivism</a:t>
            </a:r>
          </a:p>
          <a:p>
            <a:r>
              <a:t>• Found biased against minority defendants</a:t>
            </a:r>
          </a:p>
          <a:p>
            <a:r>
              <a:t>• Key issue: lack of transparency and fairness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Cambridge Analytica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misuse from Facebook for political targeting</a:t>
            </a:r>
          </a:p>
          <a:p>
            <a:r>
              <a:t>• Breach of trust and privacy</a:t>
            </a:r>
          </a:p>
          <a:p>
            <a:r>
              <a:t>• Sparked new debates on data rights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3: Autonomous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Ethical decision-making in accidents</a:t>
            </a:r>
          </a:p>
          <a:p>
            <a:r>
              <a:t>• Human life value problem</a:t>
            </a:r>
          </a:p>
          <a:p>
            <a:r>
              <a:t>• Calls for universal ethical standards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4: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Tools: ChatGPT, DALL·E, DeepFakes</a:t>
            </a:r>
          </a:p>
          <a:p>
            <a:r>
              <a:t>• Issues: misinformation, authorship, copyright</a:t>
            </a:r>
          </a:p>
          <a:p>
            <a:r>
              <a:t>• Need for authenticity verification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we balance innovation with ethical responsibility in AI?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Generative AI and creativity</a:t>
            </a:r>
          </a:p>
          <a:p>
            <a:r>
              <a:t>• AI in governance and law</a:t>
            </a:r>
          </a:p>
          <a:p>
            <a:r>
              <a:t>• Quantum AI and superintelligence</a:t>
            </a:r>
          </a:p>
          <a:p>
            <a:r>
              <a:t>• Neuro-symbolic 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Regulation and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EU AI Act</a:t>
            </a:r>
          </a:p>
          <a:p>
            <a:r>
              <a:t>• Global AI governance</a:t>
            </a:r>
          </a:p>
          <a:p>
            <a:r>
              <a:t>• Responsible AI standardization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Automation vs. job creation</a:t>
            </a:r>
          </a:p>
          <a:p>
            <a:r>
              <a:t>• Reskilling and upskilling</a:t>
            </a:r>
          </a:p>
          <a:p>
            <a:r>
              <a:t>• The ethical role of governments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the next 10 years of AI: What will be the most pressing ethical issue of 2035?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 ethics in every stage of AI development</a:t>
            </a:r>
          </a:p>
          <a:p>
            <a:r>
              <a:t>• Multi-stakeholder collaboration</a:t>
            </a:r>
          </a:p>
          <a:p>
            <a:r>
              <a:t>• Ongoing monitoring and evaluation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Ethics ensures fairness, trust, and accountability.</a:t>
            </a:r>
          </a:p>
          <a:p>
            <a:r>
              <a:t>2. AI must align with human values.</a:t>
            </a:r>
          </a:p>
          <a:p>
            <a:r>
              <a:t>3. The next generation of AI must prioritize sustainability.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Floridi &amp; Cowls (2019) - Harvard Data Science Review</a:t>
            </a:r>
          </a:p>
          <a:p>
            <a:r>
              <a:t>2. Jobin et al. (2019) - Nature Machine Intelligence</a:t>
            </a:r>
          </a:p>
          <a:p>
            <a:r>
              <a:t>3. Boddington (2017) - Springer</a:t>
            </a:r>
          </a:p>
          <a:p>
            <a:r>
              <a:t>4. OECD (2021) - AI Principles</a:t>
            </a:r>
          </a:p>
          <a:p>
            <a:r>
              <a:t>5. EU Commission (2021) - AI Act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