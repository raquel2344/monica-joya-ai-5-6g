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9: Sustainable AI and Green Communications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Lecturer Notes -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 hours (2 lecture + 1 lab)</a:t>
            </a:r>
          </a:p>
          <a:p/>
          <a:p>
            <a:r>
              <a:t>Learning Objectives:</a:t>
            </a:r>
          </a:p>
          <a:p>
            <a:r>
              <a:t>1. Analyze telecom energy patterns</a:t>
            </a:r>
          </a:p>
          <a:p>
            <a:r>
              <a:t>2. Design sustainable architectures</a:t>
            </a:r>
          </a:p>
          <a:p>
            <a:r>
              <a:t>3. Apply AI for optimization</a:t>
            </a:r>
          </a:p>
          <a:p>
            <a:r>
              <a:t>4. Assess environmental impact</a:t>
            </a:r>
          </a:p>
          <a:p>
            <a:r>
              <a:t>5. Implement energy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Efficiency in Telecom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Energy Consumers:</a:t>
            </a:r>
          </a:p>
          <a:p>
            <a:r>
              <a:t>• Base stations (60–80%)</a:t>
            </a:r>
          </a:p>
          <a:p>
            <a:r>
              <a:t>• Data centers (15–20%)</a:t>
            </a:r>
          </a:p>
          <a:p>
            <a:r>
              <a:t>• Transmission (5–10%)</a:t>
            </a:r>
          </a:p>
          <a:p>
            <a:r>
              <a:t>• Cooling (30–40%)</a:t>
            </a:r>
          </a:p>
          <a:p/>
          <a:p>
            <a:r>
              <a:t>ICT = 2–4% global GHG emissions</a:t>
            </a:r>
          </a:p>
          <a:p>
            <a:r>
              <a:t>Telecom ≈ 0.2–0.3%</a:t>
            </a:r>
          </a:p>
          <a:p>
            <a:r>
              <a:t>Vodafone: 50% energy cut by 2040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Efficiency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• PUE = Total Facility / IT Energy (&lt;1.5 ideal)</a:t>
            </a:r>
          </a:p>
          <a:p>
            <a:r>
              <a:t>• ECR = Joules/bit</a:t>
            </a:r>
          </a:p>
          <a:p>
            <a:r>
              <a:t>• CUE = CO₂ / IT Energy</a:t>
            </a:r>
          </a:p>
          <a:p/>
          <a:p>
            <a:r>
              <a:t>Reducing PUE 2.0→1.3 saves MWs/yr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Principles:</a:t>
            </a:r>
          </a:p>
          <a:p>
            <a:r>
              <a:t>• Intelligent densification</a:t>
            </a:r>
          </a:p>
          <a:p>
            <a:r>
              <a:t>• Energy-aware allocation</a:t>
            </a:r>
          </a:p>
          <a:p>
            <a:r>
              <a:t>• Green hardware</a:t>
            </a:r>
          </a:p>
          <a:p/>
          <a:p>
            <a:r>
              <a:t>Use AI for cell placement, sleeping, and load 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Renewable Energy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Methods:</a:t>
            </a:r>
          </a:p>
          <a:p>
            <a:r>
              <a:t>• Solar/wind base stations</a:t>
            </a:r>
          </a:p>
          <a:p>
            <a:r>
              <a:t>• Hybrid off-grid setups</a:t>
            </a:r>
          </a:p>
          <a:p>
            <a:r>
              <a:t>• BESS for peak shaving</a:t>
            </a:r>
          </a:p>
          <a:p>
            <a:r>
              <a:t>• Smart grids &amp; demand response</a:t>
            </a:r>
          </a:p>
          <a:p/>
          <a:p>
            <a:r>
              <a:t>Ex: Ericsson solar towers cut diesel 80%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Economy in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maintenance</a:t>
            </a:r>
          </a:p>
          <a:p>
            <a:r>
              <a:t>• Refurbishment &amp; reuse</a:t>
            </a:r>
          </a:p>
          <a:p>
            <a:r>
              <a:t>• E-waste management</a:t>
            </a:r>
          </a:p>
          <a:p>
            <a:r>
              <a:t>• Recyclable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Energy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Applications:</a:t>
            </a:r>
          </a:p>
          <a:p>
            <a:r>
              <a:t>• Forecasting (LSTM, Prophet)</a:t>
            </a:r>
          </a:p>
          <a:p>
            <a:r>
              <a:t>• Clustering (K-means)</a:t>
            </a:r>
          </a:p>
          <a:p>
            <a:r>
              <a:t>• Anomaly detection (Autoencoders)</a:t>
            </a:r>
          </a:p>
          <a:p/>
          <a:p>
            <a:r>
              <a:t>Flow: Traffic → ML → Forecast → Optimize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Management via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Techniques:</a:t>
            </a:r>
          </a:p>
          <a:p>
            <a:r>
              <a:t>• Dynamic cell sleeping</a:t>
            </a:r>
          </a:p>
          <a:p>
            <a:r>
              <a:t>• Adaptive power control</a:t>
            </a:r>
          </a:p>
          <a:p>
            <a:r>
              <a:t>• Cooling optimization</a:t>
            </a:r>
          </a:p>
          <a:p/>
          <a:p>
            <a:r>
              <a:t>DeepMind cut 40% cooling energy.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in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RL setup:</a:t>
            </a:r>
          </a:p>
          <a:p>
            <a:r>
              <a:t>State: traffic, energy, weather</a:t>
            </a:r>
          </a:p>
          <a:p>
            <a:r>
              <a:t>Action: power, cell states</a:t>
            </a:r>
          </a:p>
          <a:p>
            <a:r>
              <a:t>Reward: minimize energy, maintain QoS</a:t>
            </a:r>
          </a:p>
          <a:p/>
          <a:p>
            <a:r>
              <a:t>Algorithms: DQN, PPO, Actor-Critic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Lifecycle:</a:t>
            </a:r>
          </a:p>
          <a:p>
            <a:r>
              <a:t>• Manufacture → Operate → Dispose</a:t>
            </a:r>
          </a:p>
          <a:p>
            <a:r>
              <a:t>AI in:</a:t>
            </a:r>
          </a:p>
          <a:p>
            <a:r>
              <a:t>• LCA automation</a:t>
            </a:r>
          </a:p>
          <a:p>
            <a:r>
              <a:t>• Carbon footprint</a:t>
            </a:r>
          </a:p>
          <a:p>
            <a:r>
              <a:t>• E-waste &amp; biodiversity 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Reporting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ESG reporting</a:t>
            </a:r>
          </a:p>
          <a:p>
            <a:r>
              <a:t>• ISO 14001, GHG Protocol</a:t>
            </a:r>
          </a:p>
          <a:p>
            <a:r>
              <a:t>• Net-zero prediction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Energy Modeling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Tasks:</a:t>
            </a:r>
          </a:p>
          <a:p>
            <a:r>
              <a:t>1. Analyze energy data</a:t>
            </a:r>
          </a:p>
          <a:p>
            <a:r>
              <a:t>2. Forecast consumption</a:t>
            </a:r>
          </a:p>
          <a:p>
            <a:r>
              <a:t>3. Optimize cost/carbon</a:t>
            </a:r>
          </a:p>
          <a:p>
            <a:r>
              <a:t>4. Evaluate environmental impact</a:t>
            </a:r>
          </a:p>
          <a:p/>
          <a:p>
            <a:r>
              <a:t>Tools: pandas, TensorFlow, Prophet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Group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Topics:</a:t>
            </a:r>
          </a:p>
          <a:p>
            <a:r>
              <a:t>• AI energy trade-offs</a:t>
            </a:r>
          </a:p>
          <a:p>
            <a:r>
              <a:t>• Renewable access equity</a:t>
            </a:r>
          </a:p>
          <a:p>
            <a:r>
              <a:t>• Rebound effect</a:t>
            </a:r>
          </a:p>
          <a:p/>
          <a:p>
            <a:r>
              <a:t>Group Design Challenge: sustainable 5G or off-grid networks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Report (100 pts):</a:t>
            </a:r>
          </a:p>
          <a:p>
            <a:r>
              <a:t>• Analysis – 25</a:t>
            </a:r>
          </a:p>
          <a:p>
            <a:r>
              <a:t>• Modeling – 30</a:t>
            </a:r>
          </a:p>
          <a:p>
            <a:r>
              <a:t>• Optimization – 25</a:t>
            </a:r>
          </a:p>
          <a:p>
            <a:r>
              <a:t>• Impact – 15</a:t>
            </a:r>
          </a:p>
          <a:p>
            <a:r>
              <a:t>• Docs – 5</a:t>
            </a:r>
          </a:p>
          <a:p/>
          <a:p>
            <a:r>
              <a:t>Quiz: PUE/CUE, AI methods, CO₂ savings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Sustainability is essential</a:t>
            </a:r>
          </a:p>
          <a:p>
            <a:r>
              <a:t>2. AI both saves &amp; consumes energy</a:t>
            </a:r>
          </a:p>
          <a:p>
            <a:r>
              <a:t>3. Holistic strategies matter</a:t>
            </a:r>
          </a:p>
          <a:p>
            <a:r>
              <a:t>4. Data-driven optimization</a:t>
            </a:r>
          </a:p>
          <a:p>
            <a:r>
              <a:t>5. Efficiency cuts cost</a:t>
            </a:r>
          </a:p>
          <a:p>
            <a:r>
              <a:t>6. Green AI = future opportunity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6G ultra-low energy</a:t>
            </a:r>
          </a:p>
          <a:p>
            <a:r>
              <a:t>• Edge AI</a:t>
            </a:r>
          </a:p>
          <a:p>
            <a:r>
              <a:t>• Liquid cooling</a:t>
            </a:r>
          </a:p>
          <a:p>
            <a:r>
              <a:t>• Green AI</a:t>
            </a:r>
          </a:p>
          <a:p>
            <a:r>
              <a:t>• Digital twins</a:t>
            </a:r>
          </a:p>
          <a:p>
            <a:r>
              <a:t>• Blockchain for energy trading</a:t>
            </a:r>
          </a:p>
          <a:p/>
          <a:p>
            <a:r>
              <a:t>“The greener networks of tomorrow depend on your designs.”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