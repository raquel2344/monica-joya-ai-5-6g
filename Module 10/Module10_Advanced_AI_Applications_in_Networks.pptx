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10: Advanced AI Applications in Next-Generation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Week 10 | Duration: 2 hours lecture + 1 hour lab</a:t>
            </a:r>
          </a:p>
          <a:p>
            <a:endParaRPr sz="2000" dirty="0"/>
          </a:p>
          <a:p>
            <a:r>
              <a:rPr sz="2000" dirty="0"/>
              <a:t>Learning Objectives:</a:t>
            </a:r>
          </a:p>
          <a:p>
            <a:r>
              <a:rPr sz="2000" dirty="0"/>
              <a:t>1. Explain digital twins in telecom networks.</a:t>
            </a:r>
          </a:p>
          <a:p>
            <a:r>
              <a:rPr sz="2000" dirty="0"/>
              <a:t>2. Describe AI-enhanced network slicing.</a:t>
            </a:r>
          </a:p>
          <a:p>
            <a:r>
              <a:rPr sz="2000" dirty="0"/>
              <a:t>3. Analyze intelligent spectrum management.</a:t>
            </a:r>
          </a:p>
          <a:p>
            <a:r>
              <a:rPr sz="2000" dirty="0"/>
              <a:t>4. Understand AI with blockchain &amp; quantum.</a:t>
            </a:r>
          </a:p>
          <a:p>
            <a:r>
              <a:rPr sz="2000" dirty="0"/>
              <a:t>5. Explore neuromorphic &amp; bio-inspired computing.</a:t>
            </a:r>
          </a:p>
          <a:p>
            <a:r>
              <a:rPr sz="2000" dirty="0"/>
              <a:t>6. Build conceptual digital twin models.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Next-Generation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NGNs integrate telecommunications, AI, and Internet tech for intelligent, adaptive systems.</a:t>
            </a:r>
          </a:p>
          <a:p>
            <a:endParaRPr sz="2000" dirty="0"/>
          </a:p>
          <a:p>
            <a:r>
              <a:rPr sz="2000" dirty="0"/>
              <a:t>Key characteristics:</a:t>
            </a:r>
          </a:p>
          <a:p>
            <a:r>
              <a:rPr sz="2000" dirty="0"/>
              <a:t>- Software-defined infrastructure</a:t>
            </a:r>
          </a:p>
          <a:p>
            <a:r>
              <a:rPr sz="2000" dirty="0"/>
              <a:t>- Ultra-low latency</a:t>
            </a:r>
          </a:p>
          <a:p>
            <a:r>
              <a:rPr sz="2000" dirty="0"/>
              <a:t>- Context-aware management</a:t>
            </a:r>
          </a:p>
          <a:p>
            <a:r>
              <a:rPr sz="2000" dirty="0"/>
              <a:t>- Data-driven optimization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AI in NGNs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AI enables predictive analytics, autonomous resource management, intelligent routing, and energy-efficient communications.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Twins for Network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Digital twin: A virtual replica of a physical system that syncs with real data.</a:t>
            </a:r>
          </a:p>
          <a:p>
            <a:endParaRPr sz="2000" dirty="0"/>
          </a:p>
          <a:p>
            <a:r>
              <a:rPr sz="2000" dirty="0"/>
              <a:t>Components:</a:t>
            </a:r>
          </a:p>
          <a:p>
            <a:r>
              <a:rPr sz="2000" dirty="0"/>
              <a:t>- Physical entity</a:t>
            </a:r>
          </a:p>
          <a:p>
            <a:r>
              <a:rPr sz="2000" dirty="0"/>
              <a:t>- Virtual model</a:t>
            </a:r>
          </a:p>
          <a:p>
            <a:r>
              <a:rPr sz="2000" dirty="0"/>
              <a:t>- Data pipeline</a:t>
            </a:r>
          </a:p>
          <a:p>
            <a:r>
              <a:rPr sz="2000" dirty="0"/>
              <a:t>- AI engine</a:t>
            </a:r>
          </a:p>
          <a:p>
            <a:endParaRPr sz="2000" dirty="0"/>
          </a:p>
          <a:p>
            <a:r>
              <a:rPr sz="2000" dirty="0"/>
              <a:t>Applications:</a:t>
            </a:r>
          </a:p>
          <a:p>
            <a:r>
              <a:rPr sz="2000" dirty="0"/>
              <a:t>- Predictive maintenance</a:t>
            </a:r>
          </a:p>
          <a:p>
            <a:r>
              <a:rPr sz="2000" dirty="0"/>
              <a:t>- Capacity planning</a:t>
            </a:r>
          </a:p>
          <a:p>
            <a:r>
              <a:rPr sz="2000" dirty="0"/>
              <a:t>- Fault diagnosis</a:t>
            </a:r>
          </a:p>
          <a:p>
            <a:r>
              <a:rPr sz="2000" dirty="0"/>
              <a:t>- Energy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AI-Enhanced Network Slicing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Network slicing: multiple virtual networks on one infrastructure.</a:t>
            </a:r>
          </a:p>
          <a:p>
            <a:endParaRPr sz="2000" dirty="0"/>
          </a:p>
          <a:p>
            <a:r>
              <a:rPr sz="2000" dirty="0"/>
              <a:t>AI improves:</a:t>
            </a:r>
          </a:p>
          <a:p>
            <a:r>
              <a:rPr sz="2000" dirty="0"/>
              <a:t>- Resource allocation</a:t>
            </a:r>
          </a:p>
          <a:p>
            <a:r>
              <a:rPr sz="2000" dirty="0"/>
              <a:t>- Performance prediction</a:t>
            </a:r>
          </a:p>
          <a:p>
            <a:r>
              <a:rPr sz="2000" dirty="0"/>
              <a:t>- Cost optimization</a:t>
            </a:r>
          </a:p>
          <a:p>
            <a:endParaRPr sz="2000" dirty="0"/>
          </a:p>
          <a:p>
            <a:r>
              <a:rPr sz="2000" dirty="0"/>
              <a:t>Techniques:</a:t>
            </a:r>
          </a:p>
          <a:p>
            <a:r>
              <a:rPr sz="2000" dirty="0"/>
              <a:t>- Reinforcement Learning</a:t>
            </a:r>
          </a:p>
          <a:p>
            <a:r>
              <a:rPr sz="2000" dirty="0"/>
              <a:t>- DNNs</a:t>
            </a:r>
          </a:p>
          <a:p>
            <a:endParaRPr sz="2000" dirty="0"/>
          </a:p>
          <a:p>
            <a:r>
              <a:rPr sz="2000" dirty="0"/>
              <a:t>Use Case: 5G Smart Factory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Intelligent Spectrum Management &amp; Cognitive Radio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Cognitive radios learn and adapt frequency usage.</a:t>
            </a:r>
          </a:p>
          <a:p>
            <a:endParaRPr sz="2000" dirty="0"/>
          </a:p>
          <a:p>
            <a:r>
              <a:rPr sz="2000" dirty="0"/>
              <a:t>AI aids in:</a:t>
            </a:r>
          </a:p>
          <a:p>
            <a:r>
              <a:rPr sz="2000" dirty="0"/>
              <a:t>- Spectrum sensing</a:t>
            </a:r>
          </a:p>
          <a:p>
            <a:r>
              <a:rPr sz="2000" dirty="0"/>
              <a:t>- Decision-making</a:t>
            </a:r>
          </a:p>
          <a:p>
            <a:r>
              <a:rPr sz="2000" dirty="0"/>
              <a:t>- Spectrum sharing</a:t>
            </a:r>
          </a:p>
          <a:p>
            <a:endParaRPr sz="2000" dirty="0"/>
          </a:p>
          <a:p>
            <a:r>
              <a:rPr sz="2000" dirty="0"/>
              <a:t>Algorithms: Q-Learning, DQNs, Transfer Learning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Integration: Blockchain and Quantum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AI + Blockchain:</a:t>
            </a:r>
          </a:p>
          <a:p>
            <a:r>
              <a:rPr sz="2000" dirty="0"/>
              <a:t>- Secure IoT data sharing</a:t>
            </a:r>
          </a:p>
          <a:p>
            <a:r>
              <a:rPr sz="2000" dirty="0"/>
              <a:t>- Fraud detection</a:t>
            </a:r>
          </a:p>
          <a:p>
            <a:r>
              <a:rPr sz="2000" dirty="0"/>
              <a:t>- Smart contracts</a:t>
            </a:r>
          </a:p>
          <a:p>
            <a:endParaRPr sz="2000" dirty="0"/>
          </a:p>
          <a:p>
            <a:r>
              <a:rPr sz="2000" dirty="0"/>
              <a:t>AI + Quantum Computing:</a:t>
            </a:r>
          </a:p>
          <a:p>
            <a:r>
              <a:rPr sz="2000" dirty="0"/>
              <a:t>- Quantum optimization</a:t>
            </a:r>
          </a:p>
          <a:p>
            <a:r>
              <a:rPr sz="2000" dirty="0"/>
              <a:t>- Network prediction</a:t>
            </a:r>
          </a:p>
          <a:p>
            <a:r>
              <a:rPr sz="2000" dirty="0"/>
              <a:t>- Quantum-enhanced reinforcement learning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Neuromorphic and Bio-Inspired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Neuromorphic systems use spiking neural networks for low-power computation.</a:t>
            </a:r>
          </a:p>
          <a:p>
            <a:endParaRPr sz="2000" dirty="0"/>
          </a:p>
          <a:p>
            <a:r>
              <a:rPr sz="2000" dirty="0"/>
              <a:t>Bio-inspired algorithms:</a:t>
            </a:r>
          </a:p>
          <a:p>
            <a:r>
              <a:rPr sz="2000" dirty="0"/>
              <a:t>- Ant Colony Optimization (ACO)</a:t>
            </a:r>
          </a:p>
          <a:p>
            <a:r>
              <a:rPr sz="2000" dirty="0"/>
              <a:t>- Genetic Algorithms (GA)</a:t>
            </a:r>
          </a:p>
          <a:p>
            <a:r>
              <a:rPr sz="2000" dirty="0"/>
              <a:t>- Particle Swarm Optimization (PSO)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1. Ericsson: Digital twin for RAN optimization.</a:t>
            </a:r>
          </a:p>
          <a:p>
            <a:r>
              <a:rPr sz="2000" dirty="0"/>
              <a:t>2. Google DeepMind + BT: Traffic prediction.</a:t>
            </a:r>
          </a:p>
          <a:p>
            <a:r>
              <a:rPr sz="2000" dirty="0"/>
              <a:t>3. Huawei: AI-driven spectrum allocation.</a:t>
            </a:r>
          </a:p>
          <a:p>
            <a:endParaRPr sz="2000" dirty="0"/>
          </a:p>
          <a:p>
            <a:r>
              <a:rPr sz="2000" dirty="0"/>
              <a:t>Results: Uptime ↑ 30%, Throughput ↑, Energy 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and Security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AI Bias and Fairness – ensure equitable resource allocation.</a:t>
            </a:r>
          </a:p>
          <a:p>
            <a:r>
              <a:rPr sz="2000" dirty="0"/>
              <a:t>Data Privacy – blockchain for transparency.</a:t>
            </a:r>
          </a:p>
          <a:p>
            <a:r>
              <a:rPr sz="2000" dirty="0"/>
              <a:t>Trustworthy AI – implement explainable AI (XAI).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Lab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Lab Theme: Conceptual Digital Twin Modeling using Python.</a:t>
            </a:r>
          </a:p>
          <a:p>
            <a:endParaRPr sz="2000" dirty="0"/>
          </a:p>
          <a:p>
            <a:r>
              <a:rPr sz="2000" dirty="0"/>
              <a:t>Tools:</a:t>
            </a:r>
          </a:p>
          <a:p>
            <a:r>
              <a:rPr sz="2000" dirty="0"/>
              <a:t>- Python 3.x</a:t>
            </a:r>
          </a:p>
          <a:p>
            <a:r>
              <a:rPr sz="2000" dirty="0"/>
              <a:t>- </a:t>
            </a:r>
            <a:r>
              <a:rPr sz="2000" dirty="0" err="1"/>
              <a:t>SimPy</a:t>
            </a:r>
            <a:r>
              <a:rPr sz="2000" dirty="0"/>
              <a:t>, Mesa, Matplotlib, </a:t>
            </a:r>
            <a:r>
              <a:rPr sz="2000" dirty="0" err="1"/>
              <a:t>Numpy</a:t>
            </a:r>
            <a:endParaRPr sz="2000" dirty="0"/>
          </a:p>
          <a:p>
            <a:endParaRPr sz="2000" dirty="0"/>
          </a:p>
          <a:p>
            <a:r>
              <a:rPr sz="2000" dirty="0"/>
              <a:t>Goal: Simulate a digital twin for network infrastructure.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1: Network Traffic Simulation (SimPy)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Objective: Model network nodes and packet flow.</a:t>
            </a:r>
          </a:p>
          <a:p>
            <a:r>
              <a:rPr sz="2000" dirty="0"/>
              <a:t>Steps:</a:t>
            </a:r>
          </a:p>
          <a:p>
            <a:r>
              <a:rPr sz="2000" dirty="0"/>
              <a:t>1. Install </a:t>
            </a:r>
            <a:r>
              <a:rPr sz="2000" dirty="0" err="1"/>
              <a:t>SimPy</a:t>
            </a:r>
            <a:endParaRPr sz="2000" dirty="0"/>
          </a:p>
          <a:p>
            <a:r>
              <a:rPr sz="2000" dirty="0"/>
              <a:t>2. Define nodes/links</a:t>
            </a:r>
          </a:p>
          <a:p>
            <a:r>
              <a:rPr sz="2000" dirty="0"/>
              <a:t>3. Simulate traffic</a:t>
            </a:r>
          </a:p>
          <a:p>
            <a:r>
              <a:rPr sz="2000" dirty="0"/>
              <a:t>4. Visualize throughput &amp; delay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2: Agent-Based Modeling (Mesa)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Objective: Build adaptive network agents.</a:t>
            </a:r>
          </a:p>
          <a:p>
            <a:r>
              <a:rPr sz="2000" dirty="0"/>
              <a:t>Steps:</a:t>
            </a:r>
          </a:p>
          <a:p>
            <a:r>
              <a:rPr sz="2000" dirty="0"/>
              <a:t>1. Install Mesa</a:t>
            </a:r>
          </a:p>
          <a:p>
            <a:r>
              <a:rPr sz="2000" dirty="0"/>
              <a:t>2. Create router agents</a:t>
            </a:r>
          </a:p>
          <a:p>
            <a:r>
              <a:rPr sz="2000" dirty="0"/>
              <a:t>3. Simulate congestion</a:t>
            </a:r>
          </a:p>
          <a:p>
            <a:r>
              <a:rPr sz="2000" dirty="0"/>
              <a:t>4. Analyze adaptation results.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3: Predictive Optimization with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Objective: Use ML to predict traffic and optimize routing.</a:t>
            </a:r>
          </a:p>
          <a:p>
            <a:r>
              <a:rPr sz="2000" dirty="0"/>
              <a:t>Steps:</a:t>
            </a:r>
          </a:p>
          <a:p>
            <a:r>
              <a:rPr sz="2000" dirty="0"/>
              <a:t>1. Collect data</a:t>
            </a:r>
          </a:p>
          <a:p>
            <a:r>
              <a:rPr sz="2000" dirty="0"/>
              <a:t>2. Train regression model</a:t>
            </a:r>
          </a:p>
          <a:p>
            <a:r>
              <a:rPr sz="2000" dirty="0"/>
              <a:t>3. Integrate prediction logic</a:t>
            </a:r>
          </a:p>
          <a:p>
            <a:r>
              <a:rPr sz="2000" dirty="0"/>
              <a:t>4. Evaluate improvements.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AI transforms NGNs through:</a:t>
            </a:r>
          </a:p>
          <a:p>
            <a:r>
              <a:rPr sz="2000" dirty="0"/>
              <a:t>- Digital twins for real-time optimization</a:t>
            </a:r>
          </a:p>
          <a:p>
            <a:r>
              <a:rPr sz="2000" dirty="0"/>
              <a:t>- AI-driven slicing and spectrum control</a:t>
            </a:r>
          </a:p>
          <a:p>
            <a:r>
              <a:rPr sz="2000" dirty="0"/>
              <a:t>- Integration with blockchain, quantum, and neuromorphic computing.</a:t>
            </a:r>
          </a:p>
          <a:p>
            <a:endParaRPr sz="2000" dirty="0"/>
          </a:p>
          <a:p>
            <a:r>
              <a:rPr sz="2000" dirty="0"/>
              <a:t>Future: Fully autonomous, adaptive, and secure communication ecosystems.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586</Words>
  <Application>Microsoft Office PowerPoint</Application>
  <PresentationFormat>On-screen Show (4:3)</PresentationFormat>
  <Paragraphs>119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Module 10: Advanced AI Applications in Next-Generation Networks</vt:lpstr>
      <vt:lpstr>Introduction to Next-Generation Networks</vt:lpstr>
      <vt:lpstr>Role of AI in NGNs</vt:lpstr>
      <vt:lpstr>Digital Twins for Network Infrastructure</vt:lpstr>
      <vt:lpstr>AI-Enhanced Network Slicing</vt:lpstr>
      <vt:lpstr>Intelligent Spectrum Management &amp; Cognitive Radio</vt:lpstr>
      <vt:lpstr>AI Integration: Blockchain and Quantum</vt:lpstr>
      <vt:lpstr>Neuromorphic and Bio-Inspired Computing</vt:lpstr>
      <vt:lpstr>Case Studies</vt:lpstr>
      <vt:lpstr>Ethical and Security Considerations</vt:lpstr>
      <vt:lpstr>Hands-On Lab Overview</vt:lpstr>
      <vt:lpstr>Practical 1: Network Traffic Simulation (SimPy)</vt:lpstr>
      <vt:lpstr>Practical 2: Agent-Based Modeling (Mesa)</vt:lpstr>
      <vt:lpstr>Practical 3: Predictive Optimization with AI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tawanda.chiyangwa</cp:lastModifiedBy>
  <cp:revision>2</cp:revision>
  <dcterms:created xsi:type="dcterms:W3CDTF">2013-01-27T09:14:16Z</dcterms:created>
  <dcterms:modified xsi:type="dcterms:W3CDTF">2025-10-23T22:23:02Z</dcterms:modified>
  <cp:category/>
</cp:coreProperties>
</file>