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3" r:id="rId3"/>
    <p:sldId id="257" r:id="rId4"/>
    <p:sldId id="258" r:id="rId5"/>
    <p:sldId id="294" r:id="rId6"/>
    <p:sldId id="259" r:id="rId7"/>
    <p:sldId id="260" r:id="rId8"/>
    <p:sldId id="261" r:id="rId9"/>
    <p:sldId id="295" r:id="rId10"/>
    <p:sldId id="262" r:id="rId11"/>
    <p:sldId id="263" r:id="rId12"/>
    <p:sldId id="264" r:id="rId13"/>
    <p:sldId id="296" r:id="rId14"/>
    <p:sldId id="265" r:id="rId15"/>
    <p:sldId id="297" r:id="rId16"/>
    <p:sldId id="266" r:id="rId17"/>
    <p:sldId id="298" r:id="rId18"/>
    <p:sldId id="267" r:id="rId19"/>
    <p:sldId id="299" r:id="rId20"/>
    <p:sldId id="268" r:id="rId21"/>
    <p:sldId id="269" r:id="rId22"/>
    <p:sldId id="300"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94660"/>
  </p:normalViewPr>
  <p:slideViewPr>
    <p:cSldViewPr snapToGrid="0" snapToObjects="1">
      <p:cViewPr varScale="1">
        <p:scale>
          <a:sx n="107" d="100"/>
          <a:sy n="107" d="100"/>
        </p:scale>
        <p:origin x="151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Ilk7UXzV_Qc&amp;pp=ygVFT1NJIG1vZGVsIGxheWVycyBhbmQgdGhlaXIgZnVuY3Rpb25zIChzaW1wbGlmaWVkIGZvciBBSSBhcHBsaWNhdGlvbnMp0gcJCbIJAYcqIYzv" TargetMode="External"/><Relationship Id="rId2" Type="http://schemas.openxmlformats.org/officeDocument/2006/relationships/hyperlink" Target="https://www.youtube.com/watch?v=vv4y_uOneC0&amp;pp=ygVFT1NJIG1vZGVsIGxheWVycyBhbmQgdGhlaXIgZnVuY3Rpb25zIChzaW1wbGlmaWVkIGZvciBBSSBhcHBsaWNhdGlvbnMp" TargetMode="External"/><Relationship Id="rId1" Type="http://schemas.openxmlformats.org/officeDocument/2006/relationships/slideLayout" Target="../slideLayouts/slideLayout2.xml"/><Relationship Id="rId4" Type="http://schemas.openxmlformats.org/officeDocument/2006/relationships/hyperlink" Target="https://www.youtube.com/watch?v=Ca1jnqwqzg0&amp;pp=ygVFT1NJIG1vZGVsIGxheWVycyBhbmQgdGhlaXIgZnVuY3Rpb25zIChzaW1wbGlmaWVkIGZvciBBSSBhcHBsaWNhdGlvbnM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Module 2: Network Architecture &amp; Wireless Basics (Week 2)</a:t>
            </a:r>
          </a:p>
        </p:txBody>
      </p:sp>
      <p:sp>
        <p:nvSpPr>
          <p:cNvPr id="3" name="Subtitle 2"/>
          <p:cNvSpPr>
            <a:spLocks noGrp="1"/>
          </p:cNvSpPr>
          <p:nvPr>
            <p:ph type="subTitle" idx="1"/>
          </p:nvPr>
        </p:nvSpPr>
        <p:spPr/>
        <p:txBody>
          <a:bodyPr/>
          <a:lstStyle/>
          <a:p>
            <a:r>
              <a:t>Building Network and Wireless Understanding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250D-285E-0D40-98EE-C22CA7A8A8E0}"/>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BA238127-CB20-8E8F-C919-3AF1F3DDAD43}"/>
              </a:ext>
            </a:extLst>
          </p:cNvPr>
          <p:cNvSpPr>
            <a:spLocks noGrp="1"/>
          </p:cNvSpPr>
          <p:nvPr>
            <p:ph idx="1"/>
          </p:nvPr>
        </p:nvSpPr>
        <p:spPr/>
        <p:txBody>
          <a:bodyPr>
            <a:normAutofit lnSpcReduction="10000"/>
          </a:bodyPr>
          <a:lstStyle/>
          <a:p>
            <a:pPr lvl="0" fontAlgn="base"/>
            <a:r>
              <a:rPr lang="en-US" dirty="0"/>
              <a:t>OSI model layers and their functions (simplified for AI applications)</a:t>
            </a:r>
          </a:p>
          <a:p>
            <a:pPr lvl="0" fontAlgn="base"/>
            <a:r>
              <a:rPr lang="en-US" dirty="0"/>
              <a:t>TCP/IP protocol suite basics and network addressing</a:t>
            </a:r>
          </a:p>
          <a:p>
            <a:pPr lvl="0" fontAlgn="base"/>
            <a:r>
              <a:rPr lang="en-US" dirty="0"/>
              <a:t>Core network vs. access network concepts</a:t>
            </a:r>
          </a:p>
          <a:p>
            <a:pPr lvl="0" fontAlgn="base"/>
            <a:r>
              <a:rPr lang="en-US" dirty="0"/>
              <a:t>Radio frequency spectrum and propagation principles</a:t>
            </a:r>
          </a:p>
          <a:p>
            <a:pPr lvl="0" fontAlgn="base"/>
            <a:r>
              <a:rPr lang="en-US" dirty="0"/>
              <a:t>Cellular network concepts and evolution from 1G to 5G</a:t>
            </a:r>
          </a:p>
          <a:p>
            <a:pPr marL="0" indent="0">
              <a:buNone/>
            </a:pPr>
            <a:endParaRPr lang="en-US" dirty="0"/>
          </a:p>
        </p:txBody>
      </p:sp>
    </p:spTree>
    <p:extLst>
      <p:ext uri="{BB962C8B-B14F-4D97-AF65-F5344CB8AC3E}">
        <p14:creationId xmlns:p14="http://schemas.microsoft.com/office/powerpoint/2010/main" val="103934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OSI Model</a:t>
            </a:r>
          </a:p>
        </p:txBody>
      </p:sp>
      <p:sp>
        <p:nvSpPr>
          <p:cNvPr id="3" name="Content Placeholder 2"/>
          <p:cNvSpPr>
            <a:spLocks noGrp="1"/>
          </p:cNvSpPr>
          <p:nvPr>
            <p:ph idx="1"/>
          </p:nvPr>
        </p:nvSpPr>
        <p:spPr/>
        <p:txBody>
          <a:bodyPr/>
          <a:lstStyle/>
          <a:p>
            <a:r>
              <a:rPr dirty="0"/>
              <a:t>Defines 7 layers for interoperability in networks.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 Layer</a:t>
            </a:r>
          </a:p>
        </p:txBody>
      </p:sp>
      <p:sp>
        <p:nvSpPr>
          <p:cNvPr id="3" name="Content Placeholder 2"/>
          <p:cNvSpPr>
            <a:spLocks noGrp="1"/>
          </p:cNvSpPr>
          <p:nvPr>
            <p:ph idx="1"/>
          </p:nvPr>
        </p:nvSpPr>
        <p:spPr/>
        <p:txBody>
          <a:bodyPr/>
          <a:lstStyle/>
          <a:p>
            <a:r>
              <a:rPr lang="en-US" dirty="0"/>
              <a:t>The </a:t>
            </a:r>
            <a:r>
              <a:rPr lang="en-US" b="1" dirty="0"/>
              <a:t>Application Layer</a:t>
            </a:r>
            <a:r>
              <a:rPr lang="en-US" dirty="0"/>
              <a:t> is the topmost layer of the OSI model. It is </a:t>
            </a:r>
            <a:r>
              <a:rPr lang="en-US" b="1" dirty="0"/>
              <a:t>where end-user applications and software interact with the network</a:t>
            </a:r>
            <a:r>
              <a:rPr lang="en-US" dirty="0"/>
              <a:t>. Unlike lower layers, it doesn’t handle “how” data is sent; it focuses on </a:t>
            </a:r>
            <a:r>
              <a:rPr lang="en-US" b="1" dirty="0"/>
              <a:t>what the data is</a:t>
            </a:r>
            <a:r>
              <a:rPr lang="en-US" dirty="0"/>
              <a:t> and </a:t>
            </a:r>
            <a:r>
              <a:rPr lang="en-US" b="1" dirty="0"/>
              <a:t>how it’s presented</a:t>
            </a:r>
            <a:r>
              <a:rPr lang="en-US" dirty="0"/>
              <a:t> to applications.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65E7B-D570-9FA6-B26C-EA014FC2F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27251-B607-F35C-CF6F-A7BD51F59D2F}"/>
              </a:ext>
            </a:extLst>
          </p:cNvPr>
          <p:cNvSpPr>
            <a:spLocks noGrp="1"/>
          </p:cNvSpPr>
          <p:nvPr>
            <p:ph type="title"/>
          </p:nvPr>
        </p:nvSpPr>
        <p:spPr/>
        <p:txBody>
          <a:bodyPr/>
          <a:lstStyle/>
          <a:p>
            <a:r>
              <a:rPr dirty="0"/>
              <a:t>Application Layer</a:t>
            </a:r>
          </a:p>
        </p:txBody>
      </p:sp>
      <p:sp>
        <p:nvSpPr>
          <p:cNvPr id="3" name="Content Placeholder 2">
            <a:extLst>
              <a:ext uri="{FF2B5EF4-FFF2-40B4-BE49-F238E27FC236}">
                <a16:creationId xmlns:a16="http://schemas.microsoft.com/office/drawing/2014/main" id="{10A81C7B-D22D-3255-AA32-126798C899B0}"/>
              </a:ext>
            </a:extLst>
          </p:cNvPr>
          <p:cNvSpPr>
            <a:spLocks noGrp="1"/>
          </p:cNvSpPr>
          <p:nvPr>
            <p:ph idx="1"/>
          </p:nvPr>
        </p:nvSpPr>
        <p:spPr/>
        <p:txBody>
          <a:bodyPr>
            <a:normAutofit fontScale="85000" lnSpcReduction="10000"/>
          </a:bodyPr>
          <a:lstStyle/>
          <a:p>
            <a:r>
              <a:rPr lang="en-US" b="1" dirty="0"/>
              <a:t>Interface for Applications: </a:t>
            </a:r>
            <a:r>
              <a:rPr lang="en-US" dirty="0"/>
              <a:t>Provides a way for software to request network services (e.g., sending a request to a server or receiving data).</a:t>
            </a:r>
          </a:p>
          <a:p>
            <a:r>
              <a:rPr lang="en-US" b="1" dirty="0"/>
              <a:t>High-Level Protocols: </a:t>
            </a:r>
            <a:r>
              <a:rPr lang="en-US" dirty="0"/>
              <a:t>Implements protocols like HTTP, FTP, SMTP, DNS, or </a:t>
            </a:r>
            <a:r>
              <a:rPr lang="en-US" dirty="0" err="1"/>
              <a:t>gRPC</a:t>
            </a:r>
            <a:r>
              <a:rPr lang="en-US" dirty="0"/>
              <a:t>, which applications use to communicate.</a:t>
            </a:r>
          </a:p>
          <a:p>
            <a:r>
              <a:rPr lang="en-US" b="1" dirty="0"/>
              <a:t>Data Representation and Formatting: </a:t>
            </a:r>
            <a:r>
              <a:rPr lang="en-US" dirty="0"/>
              <a:t>Ensures data is in a format that the receiving application can understand (e.g., JSON, XML, </a:t>
            </a:r>
            <a:r>
              <a:rPr lang="en-US" dirty="0" err="1"/>
              <a:t>protobuf</a:t>
            </a:r>
            <a:r>
              <a:rPr lang="en-US" dirty="0"/>
              <a:t>).</a:t>
            </a:r>
          </a:p>
          <a:p>
            <a:r>
              <a:rPr lang="en-US" b="1" dirty="0"/>
              <a:t>Resource Access: </a:t>
            </a:r>
            <a:r>
              <a:rPr lang="en-US" dirty="0"/>
              <a:t>Enables access to remote resources like APIs, cloud storage, databases, or other AI services.</a:t>
            </a:r>
            <a:endParaRPr dirty="0"/>
          </a:p>
        </p:txBody>
      </p:sp>
    </p:spTree>
    <p:extLst>
      <p:ext uri="{BB962C8B-B14F-4D97-AF65-F5344CB8AC3E}">
        <p14:creationId xmlns:p14="http://schemas.microsoft.com/office/powerpoint/2010/main" val="938439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Transport Layer</a:t>
            </a:r>
          </a:p>
        </p:txBody>
      </p:sp>
      <p:sp>
        <p:nvSpPr>
          <p:cNvPr id="3" name="Content Placeholder 2"/>
          <p:cNvSpPr>
            <a:spLocks noGrp="1"/>
          </p:cNvSpPr>
          <p:nvPr>
            <p:ph idx="1"/>
          </p:nvPr>
        </p:nvSpPr>
        <p:spPr/>
        <p:txBody>
          <a:bodyPr/>
          <a:lstStyle/>
          <a:p>
            <a:r>
              <a:rPr dirty="0"/>
              <a:t>Reliable communication via TCP, fast datagrams via UDP.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Network Layer</a:t>
            </a:r>
          </a:p>
        </p:txBody>
      </p:sp>
      <p:sp>
        <p:nvSpPr>
          <p:cNvPr id="3" name="Content Placeholder 2"/>
          <p:cNvSpPr>
            <a:spLocks noGrp="1"/>
          </p:cNvSpPr>
          <p:nvPr>
            <p:ph idx="1"/>
          </p:nvPr>
        </p:nvSpPr>
        <p:spPr/>
        <p:txBody>
          <a:bodyPr/>
          <a:lstStyle/>
          <a:p>
            <a:r>
              <a:rPr dirty="0"/>
              <a:t>IP addressing and routing packets across networks.</a:t>
            </a:r>
            <a:endParaRPr lang="en-US" dirty="0"/>
          </a:p>
          <a:p>
            <a:r>
              <a:rPr lang="en-US" dirty="0"/>
              <a:t>The </a:t>
            </a:r>
            <a:r>
              <a:rPr lang="en-US" b="1" dirty="0"/>
              <a:t>Network Layer</a:t>
            </a:r>
            <a:r>
              <a:rPr lang="en-US" dirty="0"/>
              <a:t> is responsible for </a:t>
            </a:r>
            <a:r>
              <a:rPr lang="en-US" b="1" dirty="0"/>
              <a:t>moving data packets from a source device to a destination device across multiple networks</a:t>
            </a:r>
            <a:r>
              <a:rPr lang="en-US" dirty="0"/>
              <a:t>. It ensures that data can travel even if the devices are not on the same local network.</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Link &amp; Physical Layers</a:t>
            </a:r>
          </a:p>
        </p:txBody>
      </p:sp>
      <p:sp>
        <p:nvSpPr>
          <p:cNvPr id="3" name="Content Placeholder 2"/>
          <p:cNvSpPr>
            <a:spLocks noGrp="1"/>
          </p:cNvSpPr>
          <p:nvPr>
            <p:ph idx="1"/>
          </p:nvPr>
        </p:nvSpPr>
        <p:spPr/>
        <p:txBody>
          <a:bodyPr/>
          <a:lstStyle/>
          <a:p>
            <a:r>
              <a:rPr dirty="0"/>
              <a:t>Error control and physical transmission via RF/cables.</a:t>
            </a:r>
            <a:endParaRPr lang="en-US" dirty="0"/>
          </a:p>
          <a:p>
            <a:r>
              <a:rPr lang="en-US" dirty="0"/>
              <a:t>The Physical Layer deals with the </a:t>
            </a:r>
            <a:r>
              <a:rPr lang="en-US" b="1" dirty="0"/>
              <a:t>actual transmission of raw bits</a:t>
            </a:r>
            <a:r>
              <a:rPr lang="en-US" dirty="0"/>
              <a:t> (0s and 1s) over a physical medium—cables, fiber optics, Wi-Fi, or radio waves.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46C6E-CDBC-A876-BC3C-79E5C30E6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54084-6828-3CA8-7035-9AC65717F541}"/>
              </a:ext>
            </a:extLst>
          </p:cNvPr>
          <p:cNvSpPr>
            <a:spLocks noGrp="1"/>
          </p:cNvSpPr>
          <p:nvPr>
            <p:ph type="title"/>
          </p:nvPr>
        </p:nvSpPr>
        <p:spPr/>
        <p:txBody>
          <a:bodyPr/>
          <a:lstStyle/>
          <a:p>
            <a:r>
              <a:rPr dirty="0"/>
              <a:t>Data Link &amp; Physical Layers</a:t>
            </a:r>
          </a:p>
        </p:txBody>
      </p:sp>
      <p:sp>
        <p:nvSpPr>
          <p:cNvPr id="3" name="Content Placeholder 2">
            <a:extLst>
              <a:ext uri="{FF2B5EF4-FFF2-40B4-BE49-F238E27FC236}">
                <a16:creationId xmlns:a16="http://schemas.microsoft.com/office/drawing/2014/main" id="{20E38E1D-E48D-93C0-A90A-DB1DD670B565}"/>
              </a:ext>
            </a:extLst>
          </p:cNvPr>
          <p:cNvSpPr>
            <a:spLocks noGrp="1"/>
          </p:cNvSpPr>
          <p:nvPr>
            <p:ph idx="1"/>
          </p:nvPr>
        </p:nvSpPr>
        <p:spPr/>
        <p:txBody>
          <a:bodyPr/>
          <a:lstStyle/>
          <a:p>
            <a:r>
              <a:rPr lang="en-US" dirty="0"/>
              <a:t>Converts digital data into electrical, optical, or radio signals.</a:t>
            </a:r>
          </a:p>
          <a:p>
            <a:r>
              <a:rPr lang="en-US" dirty="0"/>
              <a:t>Handles the hardware aspects: connectors, cables, switches, NICs.</a:t>
            </a:r>
          </a:p>
          <a:p>
            <a:r>
              <a:rPr lang="en-US" dirty="0"/>
              <a:t>Defines transmission speed, voltage levels, and signal timing.</a:t>
            </a:r>
            <a:endParaRPr dirty="0"/>
          </a:p>
        </p:txBody>
      </p:sp>
    </p:spTree>
    <p:extLst>
      <p:ext uri="{BB962C8B-B14F-4D97-AF65-F5344CB8AC3E}">
        <p14:creationId xmlns:p14="http://schemas.microsoft.com/office/powerpoint/2010/main" val="1651695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Diagram: OSI Model</a:t>
            </a:r>
          </a:p>
        </p:txBody>
      </p:sp>
      <p:sp>
        <p:nvSpPr>
          <p:cNvPr id="3" name="Content Placeholder 2"/>
          <p:cNvSpPr>
            <a:spLocks noGrp="1"/>
          </p:cNvSpPr>
          <p:nvPr>
            <p:ph idx="1"/>
          </p:nvPr>
        </p:nvSpPr>
        <p:spPr/>
        <p:txBody>
          <a:bodyPr/>
          <a:lstStyle/>
          <a:p>
            <a:endParaRPr/>
          </a:p>
        </p:txBody>
      </p:sp>
      <p:sp>
        <p:nvSpPr>
          <p:cNvPr id="4" name="Rectangle 3"/>
          <p:cNvSpPr/>
          <p:nvPr/>
        </p:nvSpPr>
        <p:spPr>
          <a:xfrm>
            <a:off x="2743200" y="2148841"/>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Application</a:t>
            </a:r>
          </a:p>
        </p:txBody>
      </p:sp>
      <p:sp>
        <p:nvSpPr>
          <p:cNvPr id="5" name="Rectangle 4"/>
          <p:cNvSpPr/>
          <p:nvPr/>
        </p:nvSpPr>
        <p:spPr>
          <a:xfrm>
            <a:off x="2672862" y="2697481"/>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Transport</a:t>
            </a:r>
          </a:p>
        </p:txBody>
      </p:sp>
      <p:sp>
        <p:nvSpPr>
          <p:cNvPr id="6" name="Rectangle 5"/>
          <p:cNvSpPr/>
          <p:nvPr/>
        </p:nvSpPr>
        <p:spPr>
          <a:xfrm>
            <a:off x="2672862" y="3337561"/>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Network</a:t>
            </a:r>
          </a:p>
        </p:txBody>
      </p:sp>
      <p:sp>
        <p:nvSpPr>
          <p:cNvPr id="7" name="Rectangle 6"/>
          <p:cNvSpPr/>
          <p:nvPr/>
        </p:nvSpPr>
        <p:spPr>
          <a:xfrm>
            <a:off x="2672862" y="3977641"/>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Data Link</a:t>
            </a:r>
          </a:p>
        </p:txBody>
      </p:sp>
      <p:sp>
        <p:nvSpPr>
          <p:cNvPr id="8" name="Rectangle 7"/>
          <p:cNvSpPr/>
          <p:nvPr/>
        </p:nvSpPr>
        <p:spPr>
          <a:xfrm>
            <a:off x="2672862" y="4800600"/>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Physical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 to TCP/IP</a:t>
            </a:r>
          </a:p>
        </p:txBody>
      </p:sp>
      <p:sp>
        <p:nvSpPr>
          <p:cNvPr id="3" name="Content Placeholder 2"/>
          <p:cNvSpPr>
            <a:spLocks noGrp="1"/>
          </p:cNvSpPr>
          <p:nvPr>
            <p:ph idx="1"/>
          </p:nvPr>
        </p:nvSpPr>
        <p:spPr/>
        <p:txBody>
          <a:bodyPr/>
          <a:lstStyle/>
          <a:p>
            <a:r>
              <a:rPr dirty="0"/>
              <a:t>Practical protocol suite for Internet.</a:t>
            </a:r>
          </a:p>
        </p:txBody>
      </p:sp>
      <p:pic>
        <p:nvPicPr>
          <p:cNvPr id="5" name="Picture 4">
            <a:extLst>
              <a:ext uri="{FF2B5EF4-FFF2-40B4-BE49-F238E27FC236}">
                <a16:creationId xmlns:a16="http://schemas.microsoft.com/office/drawing/2014/main" id="{CD46808B-6E59-58C9-F9A1-13BBEB62EE4F}"/>
              </a:ext>
            </a:extLst>
          </p:cNvPr>
          <p:cNvPicPr>
            <a:picLocks noChangeAspect="1"/>
          </p:cNvPicPr>
          <p:nvPr/>
        </p:nvPicPr>
        <p:blipFill>
          <a:blip r:embed="rId2"/>
          <a:stretch>
            <a:fillRect/>
          </a:stretch>
        </p:blipFill>
        <p:spPr>
          <a:xfrm>
            <a:off x="627528" y="2573197"/>
            <a:ext cx="7246749" cy="23036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Application Layer</a:t>
            </a:r>
          </a:p>
        </p:txBody>
      </p:sp>
      <p:sp>
        <p:nvSpPr>
          <p:cNvPr id="3" name="Content Placeholder 2"/>
          <p:cNvSpPr>
            <a:spLocks noGrp="1"/>
          </p:cNvSpPr>
          <p:nvPr>
            <p:ph idx="1"/>
          </p:nvPr>
        </p:nvSpPr>
        <p:spPr/>
        <p:txBody>
          <a:bodyPr/>
          <a:lstStyle/>
          <a:p>
            <a:r>
              <a:rPr dirty="0"/>
              <a:t>Covers HTTP, FTP, SMTP, AI APIs.</a:t>
            </a:r>
            <a:endParaRPr lang="en-US" dirty="0"/>
          </a:p>
          <a:p>
            <a:r>
              <a:rPr lang="en-US" dirty="0"/>
              <a:t>The </a:t>
            </a:r>
            <a:r>
              <a:rPr lang="en-US" b="1" dirty="0"/>
              <a:t>Application Layer</a:t>
            </a:r>
            <a:r>
              <a:rPr lang="en-US" dirty="0"/>
              <a:t> is the </a:t>
            </a:r>
            <a:r>
              <a:rPr lang="en-US" b="1" dirty="0"/>
              <a:t>topmost layer of TCP/IP</a:t>
            </a:r>
            <a:r>
              <a:rPr lang="en-US" dirty="0"/>
              <a:t>. It provides the interface through which </a:t>
            </a:r>
            <a:r>
              <a:rPr lang="en-US" b="1" dirty="0"/>
              <a:t>applications interact with the network</a:t>
            </a:r>
            <a:r>
              <a:rPr lang="en-US" dirty="0"/>
              <a:t>. It doesn’t concern itself with how data gets delivered; instead, it focuses on </a:t>
            </a:r>
            <a:r>
              <a:rPr lang="en-US" b="1" dirty="0"/>
              <a:t>what the application wants to send or receive</a:t>
            </a:r>
            <a:r>
              <a:rPr lang="en-US" dirty="0"/>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2B41D-CE44-32DC-DC37-D0FC1F6EF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0F5F0-C2D1-428C-D97E-BB0712AABB8F}"/>
              </a:ext>
            </a:extLst>
          </p:cNvPr>
          <p:cNvSpPr>
            <a:spLocks noGrp="1"/>
          </p:cNvSpPr>
          <p:nvPr>
            <p:ph type="title"/>
          </p:nvPr>
        </p:nvSpPr>
        <p:spPr/>
        <p:txBody>
          <a:bodyPr/>
          <a:lstStyle/>
          <a:p>
            <a:r>
              <a:rPr dirty="0"/>
              <a:t>Application Layer</a:t>
            </a:r>
          </a:p>
        </p:txBody>
      </p:sp>
      <p:sp>
        <p:nvSpPr>
          <p:cNvPr id="3" name="Content Placeholder 2">
            <a:extLst>
              <a:ext uri="{FF2B5EF4-FFF2-40B4-BE49-F238E27FC236}">
                <a16:creationId xmlns:a16="http://schemas.microsoft.com/office/drawing/2014/main" id="{23A60EE6-72F1-E6A4-B1D4-EEB981046033}"/>
              </a:ext>
            </a:extLst>
          </p:cNvPr>
          <p:cNvSpPr>
            <a:spLocks noGrp="1"/>
          </p:cNvSpPr>
          <p:nvPr>
            <p:ph idx="1"/>
          </p:nvPr>
        </p:nvSpPr>
        <p:spPr/>
        <p:txBody>
          <a:bodyPr>
            <a:normAutofit fontScale="92500" lnSpcReduction="10000"/>
          </a:bodyPr>
          <a:lstStyle/>
          <a:p>
            <a:r>
              <a:rPr lang="en-US" b="1" dirty="0"/>
              <a:t>Application Services: </a:t>
            </a:r>
            <a:r>
              <a:rPr lang="en-US" dirty="0"/>
              <a:t>Supports services like web browsing, email, file transfer, and APIs.</a:t>
            </a:r>
          </a:p>
          <a:p>
            <a:r>
              <a:rPr lang="en-US" b="1" dirty="0"/>
              <a:t>Data Representation: </a:t>
            </a:r>
            <a:r>
              <a:rPr lang="en-US" dirty="0"/>
              <a:t>Converts data into formats suitable for communication (JSON, XML, images, or </a:t>
            </a:r>
            <a:r>
              <a:rPr lang="en-US" dirty="0" err="1"/>
              <a:t>protobuf</a:t>
            </a:r>
            <a:r>
              <a:rPr lang="en-US" dirty="0"/>
              <a:t>).</a:t>
            </a:r>
          </a:p>
          <a:p>
            <a:r>
              <a:rPr lang="en-US" b="1" dirty="0"/>
              <a:t>Communication Protocols: </a:t>
            </a:r>
            <a:r>
              <a:rPr lang="en-US" dirty="0"/>
              <a:t>Implements high-level protocols that applications use to exchange data.</a:t>
            </a:r>
          </a:p>
          <a:p>
            <a:r>
              <a:rPr lang="en-US" b="1" dirty="0"/>
              <a:t>Resource Access: </a:t>
            </a:r>
            <a:r>
              <a:rPr lang="en-US" dirty="0"/>
              <a:t>Enables access to remote resources like cloud servers, AI models, or databases.</a:t>
            </a:r>
            <a:endParaRPr dirty="0"/>
          </a:p>
        </p:txBody>
      </p:sp>
    </p:spTree>
    <p:extLst>
      <p:ext uri="{BB962C8B-B14F-4D97-AF65-F5344CB8AC3E}">
        <p14:creationId xmlns:p14="http://schemas.microsoft.com/office/powerpoint/2010/main" val="3860075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Transport Layer</a:t>
            </a:r>
          </a:p>
        </p:txBody>
      </p:sp>
      <p:sp>
        <p:nvSpPr>
          <p:cNvPr id="3" name="Content Placeholder 2"/>
          <p:cNvSpPr>
            <a:spLocks noGrp="1"/>
          </p:cNvSpPr>
          <p:nvPr>
            <p:ph idx="1"/>
          </p:nvPr>
        </p:nvSpPr>
        <p:spPr/>
        <p:txBody>
          <a:bodyPr/>
          <a:lstStyle/>
          <a:p>
            <a:r>
              <a:rPr dirty="0"/>
              <a:t>TCP ensures reliability, UDP ensures speed.</a:t>
            </a:r>
            <a:endParaRPr lang="en-US" dirty="0"/>
          </a:p>
          <a:p>
            <a:r>
              <a:rPr lang="en-US" dirty="0"/>
              <a:t>The </a:t>
            </a:r>
            <a:r>
              <a:rPr lang="en-US" b="1" dirty="0"/>
              <a:t>Transport Layer</a:t>
            </a:r>
            <a:r>
              <a:rPr lang="en-US" dirty="0"/>
              <a:t> is responsible for </a:t>
            </a:r>
            <a:r>
              <a:rPr lang="en-US" b="1" dirty="0"/>
              <a:t>reliable delivery of data between applications on different devices</a:t>
            </a:r>
            <a:r>
              <a:rPr lang="en-US" dirty="0"/>
              <a:t>. It ensures that the data sent from one program reaches the correct program on the receiving device, </a:t>
            </a:r>
            <a:r>
              <a:rPr lang="en-US" b="1" dirty="0"/>
              <a:t>intact and in order</a:t>
            </a:r>
            <a:r>
              <a:rPr lang="en-US" dirty="0"/>
              <a: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D248-B7C1-0439-BE74-09C15470F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DE93E-470A-4998-8270-EFD5F478EC4B}"/>
              </a:ext>
            </a:extLst>
          </p:cNvPr>
          <p:cNvSpPr>
            <a:spLocks noGrp="1"/>
          </p:cNvSpPr>
          <p:nvPr>
            <p:ph type="title"/>
          </p:nvPr>
        </p:nvSpPr>
        <p:spPr/>
        <p:txBody>
          <a:bodyPr/>
          <a:lstStyle/>
          <a:p>
            <a:r>
              <a:rPr dirty="0"/>
              <a:t>Transport Layer</a:t>
            </a:r>
          </a:p>
        </p:txBody>
      </p:sp>
      <p:sp>
        <p:nvSpPr>
          <p:cNvPr id="3" name="Content Placeholder 2">
            <a:extLst>
              <a:ext uri="{FF2B5EF4-FFF2-40B4-BE49-F238E27FC236}">
                <a16:creationId xmlns:a16="http://schemas.microsoft.com/office/drawing/2014/main" id="{4A3DAA14-9ED3-FA3F-90B9-DBA385426480}"/>
              </a:ext>
            </a:extLst>
          </p:cNvPr>
          <p:cNvSpPr>
            <a:spLocks noGrp="1"/>
          </p:cNvSpPr>
          <p:nvPr>
            <p:ph idx="1"/>
          </p:nvPr>
        </p:nvSpPr>
        <p:spPr/>
        <p:txBody>
          <a:bodyPr>
            <a:normAutofit fontScale="85000" lnSpcReduction="10000"/>
          </a:bodyPr>
          <a:lstStyle/>
          <a:p>
            <a:r>
              <a:rPr lang="en-US" b="1" dirty="0"/>
              <a:t>Segmentation &amp; Reassembly: </a:t>
            </a:r>
            <a:r>
              <a:rPr lang="en-US" dirty="0"/>
              <a:t>Splits large data into smaller chunks (segments) and reassembles them at the destination.</a:t>
            </a:r>
          </a:p>
          <a:p>
            <a:r>
              <a:rPr lang="en-US" b="1" dirty="0"/>
              <a:t>End-to-End Communication</a:t>
            </a:r>
            <a:r>
              <a:rPr lang="en-US" dirty="0"/>
              <a:t>: Connects applications on source and destination machines.</a:t>
            </a:r>
          </a:p>
          <a:p>
            <a:r>
              <a:rPr lang="en-US" b="1" dirty="0"/>
              <a:t>Error Detection &amp; Recovery: </a:t>
            </a:r>
            <a:r>
              <a:rPr lang="en-US" dirty="0"/>
              <a:t>Ensures data is received correctly; retransmits lost or corrupted segments.</a:t>
            </a:r>
          </a:p>
          <a:p>
            <a:r>
              <a:rPr lang="en-US" b="1" dirty="0"/>
              <a:t>Flow Control: </a:t>
            </a:r>
            <a:r>
              <a:rPr lang="en-US" dirty="0"/>
              <a:t>Regulates the rate of data transmission to prevent congestion.</a:t>
            </a:r>
          </a:p>
          <a:p>
            <a:r>
              <a:rPr lang="en-US" b="1" dirty="0"/>
              <a:t>Multiplexing: </a:t>
            </a:r>
            <a:r>
              <a:rPr lang="en-US" dirty="0"/>
              <a:t>Allows multiple applications to share a single network connection.</a:t>
            </a:r>
            <a:endParaRPr dirty="0"/>
          </a:p>
        </p:txBody>
      </p:sp>
    </p:spTree>
    <p:extLst>
      <p:ext uri="{BB962C8B-B14F-4D97-AF65-F5344CB8AC3E}">
        <p14:creationId xmlns:p14="http://schemas.microsoft.com/office/powerpoint/2010/main" val="2483900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Internet Layer</a:t>
            </a:r>
          </a:p>
        </p:txBody>
      </p:sp>
      <p:sp>
        <p:nvSpPr>
          <p:cNvPr id="3" name="Content Placeholder 2"/>
          <p:cNvSpPr>
            <a:spLocks noGrp="1"/>
          </p:cNvSpPr>
          <p:nvPr>
            <p:ph idx="1"/>
          </p:nvPr>
        </p:nvSpPr>
        <p:spPr/>
        <p:txBody>
          <a:bodyPr/>
          <a:lstStyle/>
          <a:p>
            <a:r>
              <a:rPr dirty="0"/>
              <a:t>IP addressing, routing, ICMP.</a:t>
            </a:r>
            <a:endParaRPr lang="en-US" dirty="0"/>
          </a:p>
          <a:p>
            <a:r>
              <a:rPr lang="en-US" dirty="0"/>
              <a:t>The Internet Layer is responsible for routing and delivering data packets across networks. It ensures that data sent from a source device can reach the correct destination device, even if they are on different networks.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A681-5B27-AE12-83BE-F0DCE3BDB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328F4-4946-E223-8340-55D06D3DD089}"/>
              </a:ext>
            </a:extLst>
          </p:cNvPr>
          <p:cNvSpPr>
            <a:spLocks noGrp="1"/>
          </p:cNvSpPr>
          <p:nvPr>
            <p:ph type="title"/>
          </p:nvPr>
        </p:nvSpPr>
        <p:spPr/>
        <p:txBody>
          <a:bodyPr/>
          <a:lstStyle/>
          <a:p>
            <a:r>
              <a:rPr dirty="0"/>
              <a:t>Internet Layer</a:t>
            </a:r>
          </a:p>
        </p:txBody>
      </p:sp>
      <p:sp>
        <p:nvSpPr>
          <p:cNvPr id="3" name="Content Placeholder 2">
            <a:extLst>
              <a:ext uri="{FF2B5EF4-FFF2-40B4-BE49-F238E27FC236}">
                <a16:creationId xmlns:a16="http://schemas.microsoft.com/office/drawing/2014/main" id="{5F2567B0-E032-A272-2B9F-8D1C87577E53}"/>
              </a:ext>
            </a:extLst>
          </p:cNvPr>
          <p:cNvSpPr>
            <a:spLocks noGrp="1"/>
          </p:cNvSpPr>
          <p:nvPr>
            <p:ph idx="1"/>
          </p:nvPr>
        </p:nvSpPr>
        <p:spPr/>
        <p:txBody>
          <a:bodyPr>
            <a:normAutofit fontScale="85000" lnSpcReduction="10000"/>
          </a:bodyPr>
          <a:lstStyle/>
          <a:p>
            <a:r>
              <a:rPr lang="en-US" b="1" dirty="0"/>
              <a:t>Logical Addressing: </a:t>
            </a:r>
            <a:r>
              <a:rPr lang="en-US" dirty="0"/>
              <a:t>Assigns IP addresses (IPv4/IPv6) to devices so packets know where to go.</a:t>
            </a:r>
          </a:p>
          <a:p>
            <a:r>
              <a:rPr lang="en-US" b="1" dirty="0"/>
              <a:t>Routing: </a:t>
            </a:r>
            <a:r>
              <a:rPr lang="en-US" dirty="0"/>
              <a:t>Determines the best path for data to travel from source to destination across multiple networks.</a:t>
            </a:r>
          </a:p>
          <a:p>
            <a:r>
              <a:rPr lang="en-US" b="1" dirty="0"/>
              <a:t>Packet Forwarding: </a:t>
            </a:r>
            <a:r>
              <a:rPr lang="en-US" dirty="0"/>
              <a:t>Moves packets from one network segment to another through routers.</a:t>
            </a:r>
          </a:p>
          <a:p>
            <a:r>
              <a:rPr lang="en-US" b="1" dirty="0"/>
              <a:t>Fragmentation &amp; Reassembly: </a:t>
            </a:r>
            <a:r>
              <a:rPr lang="en-US" dirty="0"/>
              <a:t>Splits large packets for transmission across networks and reassembles them at the destination.</a:t>
            </a:r>
          </a:p>
          <a:p>
            <a:r>
              <a:rPr lang="en-US" b="1" dirty="0"/>
              <a:t>Error Handling: </a:t>
            </a:r>
            <a:r>
              <a:rPr lang="en-US" dirty="0"/>
              <a:t>Basic network-level error notifications via protocols like ICMP.</a:t>
            </a:r>
            <a:endParaRPr dirty="0"/>
          </a:p>
        </p:txBody>
      </p:sp>
    </p:spTree>
    <p:extLst>
      <p:ext uri="{BB962C8B-B14F-4D97-AF65-F5344CB8AC3E}">
        <p14:creationId xmlns:p14="http://schemas.microsoft.com/office/powerpoint/2010/main" val="1224889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Network Access Layer</a:t>
            </a:r>
          </a:p>
        </p:txBody>
      </p:sp>
      <p:sp>
        <p:nvSpPr>
          <p:cNvPr id="3" name="Content Placeholder 2"/>
          <p:cNvSpPr>
            <a:spLocks noGrp="1"/>
          </p:cNvSpPr>
          <p:nvPr>
            <p:ph idx="1"/>
          </p:nvPr>
        </p:nvSpPr>
        <p:spPr/>
        <p:txBody>
          <a:bodyPr/>
          <a:lstStyle/>
          <a:p>
            <a:r>
              <a:rPr dirty="0"/>
              <a:t>Ethernet, Wi-Fi, LTE, 5G physical links.</a:t>
            </a:r>
            <a:endParaRPr lang="en-US" dirty="0"/>
          </a:p>
          <a:p>
            <a:r>
              <a:rPr lang="en-US" dirty="0"/>
              <a:t>The Network Access Layer is responsible for sending data over the physical network medium and ensuring it reaches the next device in the network. It handles hardware addressing, error detection, and actual transmission.</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8260-31E0-AA37-7533-38097E1E7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FFDB6-6F51-18B4-785D-7D82EE244E1A}"/>
              </a:ext>
            </a:extLst>
          </p:cNvPr>
          <p:cNvSpPr>
            <a:spLocks noGrp="1"/>
          </p:cNvSpPr>
          <p:nvPr>
            <p:ph type="title"/>
          </p:nvPr>
        </p:nvSpPr>
        <p:spPr/>
        <p:txBody>
          <a:bodyPr/>
          <a:lstStyle/>
          <a:p>
            <a:r>
              <a:rPr dirty="0"/>
              <a:t>Network Access Layer</a:t>
            </a:r>
          </a:p>
        </p:txBody>
      </p:sp>
      <p:sp>
        <p:nvSpPr>
          <p:cNvPr id="3" name="Content Placeholder 2">
            <a:extLst>
              <a:ext uri="{FF2B5EF4-FFF2-40B4-BE49-F238E27FC236}">
                <a16:creationId xmlns:a16="http://schemas.microsoft.com/office/drawing/2014/main" id="{F8C07710-E9D8-EA42-7D5C-DD1AEDE9A749}"/>
              </a:ext>
            </a:extLst>
          </p:cNvPr>
          <p:cNvSpPr>
            <a:spLocks noGrp="1"/>
          </p:cNvSpPr>
          <p:nvPr>
            <p:ph idx="1"/>
          </p:nvPr>
        </p:nvSpPr>
        <p:spPr/>
        <p:txBody>
          <a:bodyPr>
            <a:normAutofit fontScale="77500" lnSpcReduction="20000"/>
          </a:bodyPr>
          <a:lstStyle/>
          <a:p>
            <a:r>
              <a:rPr lang="en-US" b="1" dirty="0"/>
              <a:t>Framing: </a:t>
            </a:r>
            <a:r>
              <a:rPr lang="en-US" dirty="0"/>
              <a:t>Packages data from the Internet Layer into frames for transmission.</a:t>
            </a:r>
          </a:p>
          <a:p>
            <a:r>
              <a:rPr lang="en-US" b="1" dirty="0"/>
              <a:t>Physical Addressing: </a:t>
            </a:r>
            <a:r>
              <a:rPr lang="en-US" dirty="0"/>
              <a:t>Uses MAC addresses to identify devices on the same local network.</a:t>
            </a:r>
          </a:p>
          <a:p>
            <a:r>
              <a:rPr lang="en-US" b="1" dirty="0"/>
              <a:t>Error Detection &amp; Correction: </a:t>
            </a:r>
            <a:r>
              <a:rPr lang="en-US" dirty="0"/>
              <a:t>Checks for errors in transmitted frames and requests retransmission if needed.</a:t>
            </a:r>
          </a:p>
          <a:p>
            <a:r>
              <a:rPr lang="en-US" b="1" dirty="0"/>
              <a:t>Access Control: </a:t>
            </a:r>
            <a:r>
              <a:rPr lang="en-US" dirty="0"/>
              <a:t>Manages which device can use the network at a given time (important in shared media like Wi-Fi).</a:t>
            </a:r>
          </a:p>
          <a:p>
            <a:r>
              <a:rPr lang="en-US" b="1" dirty="0"/>
              <a:t>Physical Transmission: </a:t>
            </a:r>
            <a:r>
              <a:rPr lang="en-US" dirty="0"/>
              <a:t>Converts frames into electrical, optical, or radio signals for the medium (cables, fiber, Wi-Fi).</a:t>
            </a:r>
            <a:endParaRPr dirty="0"/>
          </a:p>
        </p:txBody>
      </p:sp>
    </p:spTree>
    <p:extLst>
      <p:ext uri="{BB962C8B-B14F-4D97-AF65-F5344CB8AC3E}">
        <p14:creationId xmlns:p14="http://schemas.microsoft.com/office/powerpoint/2010/main" val="4277317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Diagram: TCP/IP Stack</a:t>
            </a:r>
          </a:p>
        </p:txBody>
      </p:sp>
      <p:sp>
        <p:nvSpPr>
          <p:cNvPr id="3" name="Content Placeholder 2"/>
          <p:cNvSpPr>
            <a:spLocks noGrp="1"/>
          </p:cNvSpPr>
          <p:nvPr>
            <p:ph idx="1"/>
          </p:nvPr>
        </p:nvSpPr>
        <p:spPr/>
        <p:txBody>
          <a:bodyPr/>
          <a:lstStyle/>
          <a:p>
            <a:endParaRPr dirty="0"/>
          </a:p>
        </p:txBody>
      </p:sp>
      <p:sp>
        <p:nvSpPr>
          <p:cNvPr id="4" name="Rectangle 3"/>
          <p:cNvSpPr/>
          <p:nvPr/>
        </p:nvSpPr>
        <p:spPr>
          <a:xfrm>
            <a:off x="2743200" y="2652077"/>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Application</a:t>
            </a:r>
          </a:p>
        </p:txBody>
      </p:sp>
      <p:sp>
        <p:nvSpPr>
          <p:cNvPr id="5" name="Rectangle 4"/>
          <p:cNvSpPr/>
          <p:nvPr/>
        </p:nvSpPr>
        <p:spPr>
          <a:xfrm>
            <a:off x="2801815" y="3383439"/>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Transport</a:t>
            </a:r>
          </a:p>
        </p:txBody>
      </p:sp>
      <p:sp>
        <p:nvSpPr>
          <p:cNvPr id="6" name="Rectangle 5"/>
          <p:cNvSpPr/>
          <p:nvPr/>
        </p:nvSpPr>
        <p:spPr>
          <a:xfrm>
            <a:off x="2801815" y="4160520"/>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Internet</a:t>
            </a:r>
          </a:p>
        </p:txBody>
      </p:sp>
      <p:sp>
        <p:nvSpPr>
          <p:cNvPr id="7" name="Rectangle 6"/>
          <p:cNvSpPr/>
          <p:nvPr/>
        </p:nvSpPr>
        <p:spPr>
          <a:xfrm>
            <a:off x="2844800" y="5029200"/>
            <a:ext cx="2743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Network Access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Access Network</a:t>
            </a:r>
          </a:p>
        </p:txBody>
      </p:sp>
      <p:sp>
        <p:nvSpPr>
          <p:cNvPr id="3" name="Content Placeholder 2"/>
          <p:cNvSpPr>
            <a:spLocks noGrp="1"/>
          </p:cNvSpPr>
          <p:nvPr>
            <p:ph idx="1"/>
          </p:nvPr>
        </p:nvSpPr>
        <p:spPr/>
        <p:txBody>
          <a:bodyPr/>
          <a:lstStyle/>
          <a:p>
            <a:r>
              <a:rPr dirty="0"/>
              <a:t>Connects end-users via Wi-Fi, LTE, 5G.</a:t>
            </a:r>
            <a:endParaRPr lang="en-US" dirty="0"/>
          </a:p>
          <a:p>
            <a:r>
              <a:rPr lang="en-US" dirty="0"/>
              <a:t>An </a:t>
            </a:r>
            <a:r>
              <a:rPr lang="en-US" b="1" dirty="0"/>
              <a:t>Access Network</a:t>
            </a:r>
            <a:r>
              <a:rPr lang="en-US" dirty="0"/>
              <a:t> is the segment of a network that </a:t>
            </a:r>
            <a:r>
              <a:rPr lang="en-US" b="1" dirty="0"/>
              <a:t>links end users or devices to the core network (backbone network)</a:t>
            </a:r>
            <a:r>
              <a:rPr lang="en-US" dirty="0"/>
              <a:t>. It determines </a:t>
            </a:r>
            <a:r>
              <a:rPr lang="en-US" b="1" dirty="0"/>
              <a:t>how devices physically or wirelessly connect to the network</a:t>
            </a:r>
            <a:r>
              <a:rPr lang="en-US" dirty="0"/>
              <a:t>.</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185E5-7655-CD22-E87C-97245658A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DA340-34FA-1FD7-4E2D-9D6A2DB44E67}"/>
              </a:ext>
            </a:extLst>
          </p:cNvPr>
          <p:cNvSpPr>
            <a:spLocks noGrp="1"/>
          </p:cNvSpPr>
          <p:nvPr>
            <p:ph type="title"/>
          </p:nvPr>
        </p:nvSpPr>
        <p:spPr/>
        <p:txBody>
          <a:bodyPr/>
          <a:lstStyle/>
          <a:p>
            <a:r>
              <a:rPr dirty="0"/>
              <a:t>Access Network</a:t>
            </a:r>
          </a:p>
        </p:txBody>
      </p:sp>
      <p:sp>
        <p:nvSpPr>
          <p:cNvPr id="3" name="Content Placeholder 2">
            <a:extLst>
              <a:ext uri="{FF2B5EF4-FFF2-40B4-BE49-F238E27FC236}">
                <a16:creationId xmlns:a16="http://schemas.microsoft.com/office/drawing/2014/main" id="{12AD7373-ADC7-9AFC-F817-D40E38ED8835}"/>
              </a:ext>
            </a:extLst>
          </p:cNvPr>
          <p:cNvSpPr>
            <a:spLocks noGrp="1"/>
          </p:cNvSpPr>
          <p:nvPr>
            <p:ph idx="1"/>
          </p:nvPr>
        </p:nvSpPr>
        <p:spPr/>
        <p:txBody>
          <a:bodyPr>
            <a:normAutofit fontScale="92500" lnSpcReduction="10000"/>
          </a:bodyPr>
          <a:lstStyle/>
          <a:p>
            <a:r>
              <a:rPr lang="en-US" b="1" dirty="0"/>
              <a:t>Device Connectivity: </a:t>
            </a:r>
            <a:r>
              <a:rPr lang="en-US" dirty="0"/>
              <a:t>Ensures end devices can access the network.</a:t>
            </a:r>
          </a:p>
          <a:p>
            <a:r>
              <a:rPr lang="en-US" b="1" dirty="0"/>
              <a:t>Bandwidth Management: </a:t>
            </a:r>
            <a:r>
              <a:rPr lang="en-US" dirty="0"/>
              <a:t>Provides enough speed for devices to transmit data (critical for AI data-heavy applications).</a:t>
            </a:r>
          </a:p>
          <a:p>
            <a:r>
              <a:rPr lang="en-US" b="1" dirty="0"/>
              <a:t>Authentication &amp; Security: </a:t>
            </a:r>
            <a:r>
              <a:rPr lang="en-US" dirty="0"/>
              <a:t>Ensures only authorized devices connect to the network.</a:t>
            </a:r>
          </a:p>
          <a:p>
            <a:r>
              <a:rPr lang="en-US" b="1" dirty="0"/>
              <a:t>Data Transmission: </a:t>
            </a:r>
            <a:r>
              <a:rPr lang="en-US" dirty="0"/>
              <a:t>Delivers data frames/packets from devices to the next network segment or the Internet.</a:t>
            </a:r>
            <a:endParaRPr dirty="0"/>
          </a:p>
        </p:txBody>
      </p:sp>
    </p:spTree>
    <p:extLst>
      <p:ext uri="{BB962C8B-B14F-4D97-AF65-F5344CB8AC3E}">
        <p14:creationId xmlns:p14="http://schemas.microsoft.com/office/powerpoint/2010/main" val="316631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Core Network</a:t>
            </a:r>
          </a:p>
        </p:txBody>
      </p:sp>
      <p:sp>
        <p:nvSpPr>
          <p:cNvPr id="3" name="Content Placeholder 2"/>
          <p:cNvSpPr>
            <a:spLocks noGrp="1"/>
          </p:cNvSpPr>
          <p:nvPr>
            <p:ph idx="1"/>
          </p:nvPr>
        </p:nvSpPr>
        <p:spPr/>
        <p:txBody>
          <a:bodyPr/>
          <a:lstStyle/>
          <a:p>
            <a:r>
              <a:rPr dirty="0"/>
              <a:t>Backbone of high-capacity routers and switches.</a:t>
            </a:r>
            <a:endParaRPr lang="en-US" dirty="0"/>
          </a:p>
          <a:p>
            <a:r>
              <a:rPr lang="en-US" dirty="0"/>
              <a:t>The Core Network is the central part of a network that connects multiple access networks together. It acts as the backbone that routes data between different parts of a network and to external networks like the Internet.</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Interaction</a:t>
            </a:r>
          </a:p>
        </p:txBody>
      </p:sp>
      <p:sp>
        <p:nvSpPr>
          <p:cNvPr id="3" name="Content Placeholder 2"/>
          <p:cNvSpPr>
            <a:spLocks noGrp="1"/>
          </p:cNvSpPr>
          <p:nvPr>
            <p:ph idx="1"/>
          </p:nvPr>
        </p:nvSpPr>
        <p:spPr/>
        <p:txBody>
          <a:bodyPr/>
          <a:lstStyle/>
          <a:p>
            <a:r>
              <a:t>Access → Core → Internet/AI services.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Applications</a:t>
            </a:r>
          </a:p>
        </p:txBody>
      </p:sp>
      <p:sp>
        <p:nvSpPr>
          <p:cNvPr id="3" name="Content Placeholder 2"/>
          <p:cNvSpPr>
            <a:spLocks noGrp="1"/>
          </p:cNvSpPr>
          <p:nvPr>
            <p:ph idx="1"/>
          </p:nvPr>
        </p:nvSpPr>
        <p:spPr/>
        <p:txBody>
          <a:bodyPr/>
          <a:lstStyle/>
          <a:p>
            <a:r>
              <a:t>Core handles large AI data, Access connects IoT devices.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Diagram: Core vs Access</a:t>
            </a:r>
          </a:p>
        </p:txBody>
      </p:sp>
      <p:sp>
        <p:nvSpPr>
          <p:cNvPr id="3" name="Content Placeholder 2"/>
          <p:cNvSpPr>
            <a:spLocks noGrp="1"/>
          </p:cNvSpPr>
          <p:nvPr>
            <p:ph idx="1"/>
          </p:nvPr>
        </p:nvSpPr>
        <p:spPr/>
        <p:txBody>
          <a:bodyPr/>
          <a:lstStyle/>
          <a:p>
            <a:endParaRPr dirty="0"/>
          </a:p>
        </p:txBody>
      </p:sp>
      <p:sp>
        <p:nvSpPr>
          <p:cNvPr id="4" name="Cloud 3"/>
          <p:cNvSpPr/>
          <p:nvPr/>
        </p:nvSpPr>
        <p:spPr>
          <a:xfrm>
            <a:off x="2993293" y="2235200"/>
            <a:ext cx="2743200" cy="914400"/>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r>
              <a:t>Internet / Cloud</a:t>
            </a:r>
          </a:p>
        </p:txBody>
      </p:sp>
      <p:sp>
        <p:nvSpPr>
          <p:cNvPr id="5" name="Rectangle 4"/>
          <p:cNvSpPr/>
          <p:nvPr/>
        </p:nvSpPr>
        <p:spPr>
          <a:xfrm>
            <a:off x="914400" y="3333261"/>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Access Network</a:t>
            </a:r>
          </a:p>
        </p:txBody>
      </p:sp>
      <p:sp>
        <p:nvSpPr>
          <p:cNvPr id="6" name="Rectangle 5"/>
          <p:cNvSpPr/>
          <p:nvPr/>
        </p:nvSpPr>
        <p:spPr>
          <a:xfrm>
            <a:off x="5236308" y="3405981"/>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Core Network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RF Spectrum</a:t>
            </a:r>
          </a:p>
        </p:txBody>
      </p:sp>
      <p:sp>
        <p:nvSpPr>
          <p:cNvPr id="3" name="Content Placeholder 2"/>
          <p:cNvSpPr>
            <a:spLocks noGrp="1"/>
          </p:cNvSpPr>
          <p:nvPr>
            <p:ph idx="1"/>
          </p:nvPr>
        </p:nvSpPr>
        <p:spPr/>
        <p:txBody>
          <a:bodyPr/>
          <a:lstStyle/>
          <a:p>
            <a:r>
              <a:t>Wireless communication uses licensed/unlicensed bands.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Free-space Path Loss</a:t>
            </a:r>
          </a:p>
        </p:txBody>
      </p:sp>
      <p:sp>
        <p:nvSpPr>
          <p:cNvPr id="3" name="Content Placeholder 2"/>
          <p:cNvSpPr>
            <a:spLocks noGrp="1"/>
          </p:cNvSpPr>
          <p:nvPr>
            <p:ph idx="1"/>
          </p:nvPr>
        </p:nvSpPr>
        <p:spPr/>
        <p:txBody>
          <a:bodyPr/>
          <a:lstStyle/>
          <a:p>
            <a:r>
              <a:t>Signal power decreases with distance.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Attenuation</a:t>
            </a:r>
          </a:p>
        </p:txBody>
      </p:sp>
      <p:sp>
        <p:nvSpPr>
          <p:cNvPr id="3" name="Content Placeholder 2"/>
          <p:cNvSpPr>
            <a:spLocks noGrp="1"/>
          </p:cNvSpPr>
          <p:nvPr>
            <p:ph idx="1"/>
          </p:nvPr>
        </p:nvSpPr>
        <p:spPr/>
        <p:txBody>
          <a:bodyPr/>
          <a:lstStyle/>
          <a:p>
            <a:r>
              <a:t>Walls, trees, rain reduce signal strength.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Multipath/Fading</a:t>
            </a:r>
          </a:p>
        </p:txBody>
      </p:sp>
      <p:sp>
        <p:nvSpPr>
          <p:cNvPr id="3" name="Content Placeholder 2"/>
          <p:cNvSpPr>
            <a:spLocks noGrp="1"/>
          </p:cNvSpPr>
          <p:nvPr>
            <p:ph idx="1"/>
          </p:nvPr>
        </p:nvSpPr>
        <p:spPr/>
        <p:txBody>
          <a:bodyPr/>
          <a:lstStyle/>
          <a:p>
            <a:r>
              <a:t>Reflections cause interference at receiver.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in AI</a:t>
            </a:r>
          </a:p>
        </p:txBody>
      </p:sp>
      <p:sp>
        <p:nvSpPr>
          <p:cNvPr id="3" name="Content Placeholder 2"/>
          <p:cNvSpPr>
            <a:spLocks noGrp="1"/>
          </p:cNvSpPr>
          <p:nvPr>
            <p:ph idx="1"/>
          </p:nvPr>
        </p:nvSpPr>
        <p:spPr/>
        <p:txBody>
          <a:bodyPr/>
          <a:lstStyle/>
          <a:p>
            <a:r>
              <a:t>Used in IoT, drones, autonomous vehicles.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Diagram: RF Propagation</a:t>
            </a:r>
          </a:p>
        </p:txBody>
      </p:sp>
      <p:sp>
        <p:nvSpPr>
          <p:cNvPr id="3" name="Content Placeholder 2"/>
          <p:cNvSpPr>
            <a:spLocks noGrp="1"/>
          </p:cNvSpPr>
          <p:nvPr>
            <p:ph idx="1"/>
          </p:nvPr>
        </p:nvSpPr>
        <p:spPr/>
        <p:txBody>
          <a:bodyPr/>
          <a:lstStyle/>
          <a:p>
            <a:endParaRPr dirty="0"/>
          </a:p>
        </p:txBody>
      </p:sp>
      <p:pic>
        <p:nvPicPr>
          <p:cNvPr id="4" name="Picture 3" descr="fspl2.png"/>
          <p:cNvPicPr>
            <a:picLocks noChangeAspect="1"/>
          </p:cNvPicPr>
          <p:nvPr/>
        </p:nvPicPr>
        <p:blipFill>
          <a:blip r:embed="rId2"/>
          <a:stretch>
            <a:fillRect/>
          </a:stretch>
        </p:blipFill>
        <p:spPr>
          <a:xfrm>
            <a:off x="1164492" y="2305539"/>
            <a:ext cx="5486400" cy="2743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1G: Analog</a:t>
            </a:r>
          </a:p>
        </p:txBody>
      </p:sp>
      <p:sp>
        <p:nvSpPr>
          <p:cNvPr id="3" name="Content Placeholder 2"/>
          <p:cNvSpPr>
            <a:spLocks noGrp="1"/>
          </p:cNvSpPr>
          <p:nvPr>
            <p:ph idx="1"/>
          </p:nvPr>
        </p:nvSpPr>
        <p:spPr/>
        <p:txBody>
          <a:bodyPr/>
          <a:lstStyle/>
          <a:p>
            <a:r>
              <a:t>Voice only, launched 1980s.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2G: Digital</a:t>
            </a:r>
          </a:p>
        </p:txBody>
      </p:sp>
      <p:sp>
        <p:nvSpPr>
          <p:cNvPr id="3" name="Content Placeholder 2"/>
          <p:cNvSpPr>
            <a:spLocks noGrp="1"/>
          </p:cNvSpPr>
          <p:nvPr>
            <p:ph idx="1"/>
          </p:nvPr>
        </p:nvSpPr>
        <p:spPr/>
        <p:txBody>
          <a:bodyPr/>
          <a:lstStyle/>
          <a:p>
            <a:r>
              <a:t>Voice &amp; SMS, introduced SIM cards.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3G: Internet</a:t>
            </a:r>
          </a:p>
        </p:txBody>
      </p:sp>
      <p:sp>
        <p:nvSpPr>
          <p:cNvPr id="3" name="Content Placeholder 2"/>
          <p:cNvSpPr>
            <a:spLocks noGrp="1"/>
          </p:cNvSpPr>
          <p:nvPr>
            <p:ph idx="1"/>
          </p:nvPr>
        </p:nvSpPr>
        <p:spPr/>
        <p:txBody>
          <a:bodyPr/>
          <a:lstStyle/>
          <a:p>
            <a:r>
              <a:t>Enabled mobile web and video calls.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4G: Broadband</a:t>
            </a:r>
          </a:p>
        </p:txBody>
      </p:sp>
      <p:sp>
        <p:nvSpPr>
          <p:cNvPr id="3" name="Content Placeholder 2"/>
          <p:cNvSpPr>
            <a:spLocks noGrp="1"/>
          </p:cNvSpPr>
          <p:nvPr>
            <p:ph idx="1"/>
          </p:nvPr>
        </p:nvSpPr>
        <p:spPr/>
        <p:txBody>
          <a:bodyPr/>
          <a:lstStyle/>
          <a:p>
            <a:r>
              <a:t>High-speed data, HD streaming.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5G: AI &amp; IoT</a:t>
            </a:r>
          </a:p>
        </p:txBody>
      </p:sp>
      <p:sp>
        <p:nvSpPr>
          <p:cNvPr id="3" name="Content Placeholder 2"/>
          <p:cNvSpPr>
            <a:spLocks noGrp="1"/>
          </p:cNvSpPr>
          <p:nvPr>
            <p:ph idx="1"/>
          </p:nvPr>
        </p:nvSpPr>
        <p:spPr/>
        <p:txBody>
          <a:bodyPr/>
          <a:lstStyle/>
          <a:p>
            <a:r>
              <a:t>Ultra-low latency, IoT, automation.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Diagram: Cellular Evolution</a:t>
            </a:r>
          </a:p>
        </p:txBody>
      </p:sp>
      <p:sp>
        <p:nvSpPr>
          <p:cNvPr id="3" name="Content Placeholder 2"/>
          <p:cNvSpPr>
            <a:spLocks noGrp="1"/>
          </p:cNvSpPr>
          <p:nvPr>
            <p:ph idx="1"/>
          </p:nvPr>
        </p:nvSpPr>
        <p:spPr/>
        <p:txBody>
          <a:bodyPr/>
          <a:lstStyle/>
          <a:p>
            <a:endParaRPr/>
          </a:p>
        </p:txBody>
      </p:sp>
      <p:sp>
        <p:nvSpPr>
          <p:cNvPr id="4" name="Oval 3"/>
          <p:cNvSpPr/>
          <p:nvPr/>
        </p:nvSpPr>
        <p:spPr>
          <a:xfrm>
            <a:off x="984738" y="2641600"/>
            <a:ext cx="914400" cy="914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r>
              <a:t>1G</a:t>
            </a:r>
          </a:p>
        </p:txBody>
      </p:sp>
      <p:sp>
        <p:nvSpPr>
          <p:cNvPr id="5" name="Oval 4"/>
          <p:cNvSpPr/>
          <p:nvPr/>
        </p:nvSpPr>
        <p:spPr>
          <a:xfrm>
            <a:off x="2426676" y="2641600"/>
            <a:ext cx="914400" cy="914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2G</a:t>
            </a:r>
          </a:p>
        </p:txBody>
      </p:sp>
      <p:sp>
        <p:nvSpPr>
          <p:cNvPr id="6" name="Oval 5"/>
          <p:cNvSpPr/>
          <p:nvPr/>
        </p:nvSpPr>
        <p:spPr>
          <a:xfrm>
            <a:off x="3868614" y="2641600"/>
            <a:ext cx="914400" cy="914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r>
              <a:t>3G</a:t>
            </a:r>
          </a:p>
        </p:txBody>
      </p:sp>
      <p:sp>
        <p:nvSpPr>
          <p:cNvPr id="7" name="Oval 6"/>
          <p:cNvSpPr/>
          <p:nvPr/>
        </p:nvSpPr>
        <p:spPr>
          <a:xfrm>
            <a:off x="5134707" y="2743200"/>
            <a:ext cx="914400" cy="914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r>
              <a:t>4G</a:t>
            </a:r>
          </a:p>
        </p:txBody>
      </p:sp>
      <p:sp>
        <p:nvSpPr>
          <p:cNvPr id="8" name="Oval 7"/>
          <p:cNvSpPr/>
          <p:nvPr/>
        </p:nvSpPr>
        <p:spPr>
          <a:xfrm>
            <a:off x="6576645" y="2743200"/>
            <a:ext cx="914400" cy="9144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5G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Wireshark Overview</a:t>
            </a:r>
          </a:p>
        </p:txBody>
      </p:sp>
      <p:sp>
        <p:nvSpPr>
          <p:cNvPr id="3" name="Content Placeholder 2"/>
          <p:cNvSpPr>
            <a:spLocks noGrp="1"/>
          </p:cNvSpPr>
          <p:nvPr>
            <p:ph idx="1"/>
          </p:nvPr>
        </p:nvSpPr>
        <p:spPr/>
        <p:txBody>
          <a:bodyPr/>
          <a:lstStyle/>
          <a:p>
            <a:r>
              <a:t>Free tool for packet capture and protocol analysis.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Capturing Packets</a:t>
            </a:r>
          </a:p>
        </p:txBody>
      </p:sp>
      <p:sp>
        <p:nvSpPr>
          <p:cNvPr id="3" name="Content Placeholder 2"/>
          <p:cNvSpPr>
            <a:spLocks noGrp="1"/>
          </p:cNvSpPr>
          <p:nvPr>
            <p:ph idx="1"/>
          </p:nvPr>
        </p:nvSpPr>
        <p:spPr/>
        <p:txBody>
          <a:bodyPr/>
          <a:lstStyle/>
          <a:p>
            <a:r>
              <a:t>Monitor real-time data flows on a network interface.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Analyzing TCP/IP</a:t>
            </a:r>
          </a:p>
        </p:txBody>
      </p:sp>
      <p:sp>
        <p:nvSpPr>
          <p:cNvPr id="3" name="Content Placeholder 2"/>
          <p:cNvSpPr>
            <a:spLocks noGrp="1"/>
          </p:cNvSpPr>
          <p:nvPr>
            <p:ph idx="1"/>
          </p:nvPr>
        </p:nvSpPr>
        <p:spPr/>
        <p:txBody>
          <a:bodyPr/>
          <a:lstStyle/>
          <a:p>
            <a:r>
              <a:t>Inspect headers, source/destination IPs, ports.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RF Modeling in Python</a:t>
            </a:r>
          </a:p>
        </p:txBody>
      </p:sp>
      <p:sp>
        <p:nvSpPr>
          <p:cNvPr id="3" name="Content Placeholder 2"/>
          <p:cNvSpPr>
            <a:spLocks noGrp="1"/>
          </p:cNvSpPr>
          <p:nvPr>
            <p:ph idx="1"/>
          </p:nvPr>
        </p:nvSpPr>
        <p:spPr/>
        <p:txBody>
          <a:bodyPr/>
          <a:lstStyle/>
          <a:p>
            <a:r>
              <a:t>Use FSPL formula to simulate RF strength.</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Visualizing RF</a:t>
            </a:r>
          </a:p>
        </p:txBody>
      </p:sp>
      <p:sp>
        <p:nvSpPr>
          <p:cNvPr id="3" name="Content Placeholder 2"/>
          <p:cNvSpPr>
            <a:spLocks noGrp="1"/>
          </p:cNvSpPr>
          <p:nvPr>
            <p:ph idx="1"/>
          </p:nvPr>
        </p:nvSpPr>
        <p:spPr/>
        <p:txBody>
          <a:bodyPr/>
          <a:lstStyle/>
          <a:p>
            <a:r>
              <a:t>Graphs showing signal loss vs distance.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 in AI</a:t>
            </a:r>
          </a:p>
        </p:txBody>
      </p:sp>
      <p:sp>
        <p:nvSpPr>
          <p:cNvPr id="3" name="Content Placeholder 2"/>
          <p:cNvSpPr>
            <a:spLocks noGrp="1"/>
          </p:cNvSpPr>
          <p:nvPr>
            <p:ph idx="1"/>
          </p:nvPr>
        </p:nvSpPr>
        <p:spPr/>
        <p:txBody>
          <a:bodyPr/>
          <a:lstStyle/>
          <a:p>
            <a:r>
              <a:t>AI-based monitoring &amp; optimization of networks.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EB05-CA68-4BAD-9F1B-45B54C212308}"/>
              </a:ext>
            </a:extLst>
          </p:cNvPr>
          <p:cNvSpPr>
            <a:spLocks noGrp="1"/>
          </p:cNvSpPr>
          <p:nvPr>
            <p:ph type="title"/>
          </p:nvPr>
        </p:nvSpPr>
        <p:spPr/>
        <p:txBody>
          <a:bodyPr/>
          <a:lstStyle/>
          <a:p>
            <a:r>
              <a:rPr lang="en-US" dirty="0"/>
              <a:t>Links </a:t>
            </a:r>
          </a:p>
        </p:txBody>
      </p:sp>
      <p:sp>
        <p:nvSpPr>
          <p:cNvPr id="3" name="Content Placeholder 2">
            <a:extLst>
              <a:ext uri="{FF2B5EF4-FFF2-40B4-BE49-F238E27FC236}">
                <a16:creationId xmlns:a16="http://schemas.microsoft.com/office/drawing/2014/main" id="{28FFC29B-C44A-0DEC-E3B6-7261794C79A9}"/>
              </a:ext>
            </a:extLst>
          </p:cNvPr>
          <p:cNvSpPr>
            <a:spLocks noGrp="1"/>
          </p:cNvSpPr>
          <p:nvPr>
            <p:ph idx="1"/>
          </p:nvPr>
        </p:nvSpPr>
        <p:spPr/>
        <p:txBody>
          <a:bodyPr>
            <a:normAutofit fontScale="85000" lnSpcReduction="20000"/>
          </a:bodyPr>
          <a:lstStyle/>
          <a:p>
            <a:r>
              <a:rPr lang="en-US" dirty="0">
                <a:hlinkClick r:id="rId2"/>
              </a:rPr>
              <a:t>https://www.youtube.com/watch?v=vv4y_uOneC0&amp;pp=ygVFT1NJIG1vZGVsIGxheWVycyBhbmQgdGhlaXIgZnVuY3Rpb25zIChzaW1wbGlmaWVkIGZvciBBSSBhcHBsaWNhdGlvbnMp</a:t>
            </a:r>
            <a:endParaRPr lang="en-US" dirty="0"/>
          </a:p>
          <a:p>
            <a:r>
              <a:rPr lang="en-US" dirty="0">
                <a:hlinkClick r:id="rId3"/>
              </a:rPr>
              <a:t>https://www.youtube.com/watch?v=Ilk7UXzV_Qc&amp;pp=ygVFT1NJIG1vZGVsIGxheWVycyBhbmQgdGhlaXIgZnVuY3Rpb25zIChzaW1wbGlmaWVkIGZvciBBSSBhcHBsaWNhdGlvbnMp0gcJCbIJAYcqIYzv</a:t>
            </a:r>
            <a:endParaRPr lang="en-US" dirty="0"/>
          </a:p>
          <a:p>
            <a:r>
              <a:rPr lang="en-US" dirty="0">
                <a:hlinkClick r:id="rId4"/>
              </a:rPr>
              <a:t>https://www.youtube.com/watch?v=Ca1jnqwqzg0&amp;pp=ygVFT1NJIG1vZGVsIGxheWVycyBhbmQgdGhlaXIgZnVuY3Rpb25zIChzaW1wbGlmaWVkIGZvciBBSSBhcHBsaWNhdGlvbnMp</a:t>
            </a:r>
            <a:endParaRPr lang="en-US" dirty="0"/>
          </a:p>
          <a:p>
            <a:endParaRPr lang="en-US" dirty="0"/>
          </a:p>
        </p:txBody>
      </p:sp>
    </p:spTree>
    <p:extLst>
      <p:ext uri="{BB962C8B-B14F-4D97-AF65-F5344CB8AC3E}">
        <p14:creationId xmlns:p14="http://schemas.microsoft.com/office/powerpoint/2010/main" val="401113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TotalTime>
  <Words>1367</Words>
  <Application>Microsoft Office PowerPoint</Application>
  <PresentationFormat>On-screen Show (4:3)</PresentationFormat>
  <Paragraphs>139</Paragraphs>
  <Slides>45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Module 2: Network Architecture &amp; Wireless Basics (Week 2)</vt:lpstr>
      <vt:lpstr>Objectives</vt:lpstr>
      <vt:lpstr>Introduction to OSI Model</vt:lpstr>
      <vt:lpstr>Application Layer</vt:lpstr>
      <vt:lpstr>Application Layer</vt:lpstr>
      <vt:lpstr>Transport Layer</vt:lpstr>
      <vt:lpstr>Network Layer</vt:lpstr>
      <vt:lpstr>Data Link &amp; Physical Layers</vt:lpstr>
      <vt:lpstr>Data Link &amp; Physical Layers</vt:lpstr>
      <vt:lpstr>Diagram: OSI Model</vt:lpstr>
      <vt:lpstr>Introduction to TCP/IP</vt:lpstr>
      <vt:lpstr>Application Layer</vt:lpstr>
      <vt:lpstr>Application Layer</vt:lpstr>
      <vt:lpstr>Transport Layer</vt:lpstr>
      <vt:lpstr>Transport Layer</vt:lpstr>
      <vt:lpstr>Internet Layer</vt:lpstr>
      <vt:lpstr>Internet Layer</vt:lpstr>
      <vt:lpstr>Network Access Layer</vt:lpstr>
      <vt:lpstr>Network Access Layer</vt:lpstr>
      <vt:lpstr>Diagram: TCP/IP Stack</vt:lpstr>
      <vt:lpstr>Access Network</vt:lpstr>
      <vt:lpstr>Access Network</vt:lpstr>
      <vt:lpstr>Core Network</vt:lpstr>
      <vt:lpstr>Interaction</vt:lpstr>
      <vt:lpstr>AI Applications</vt:lpstr>
      <vt:lpstr>Diagram: Core vs Access</vt:lpstr>
      <vt:lpstr>RF Spectrum</vt:lpstr>
      <vt:lpstr>Free-space Path Loss</vt:lpstr>
      <vt:lpstr>Attenuation</vt:lpstr>
      <vt:lpstr>Multipath/Fading</vt:lpstr>
      <vt:lpstr>Applications in AI</vt:lpstr>
      <vt:lpstr>Diagram: RF Propagation</vt:lpstr>
      <vt:lpstr>1G: Analog</vt:lpstr>
      <vt:lpstr>2G: Digital</vt:lpstr>
      <vt:lpstr>3G: Internet</vt:lpstr>
      <vt:lpstr>4G: Broadband</vt:lpstr>
      <vt:lpstr>5G: AI &amp; IoT</vt:lpstr>
      <vt:lpstr>Diagram: Cellular Evolution</vt:lpstr>
      <vt:lpstr>Wireshark Overview</vt:lpstr>
      <vt:lpstr>Capturing Packets</vt:lpstr>
      <vt:lpstr>Analyzing TCP/IP</vt:lpstr>
      <vt:lpstr>RF Modeling in Python</vt:lpstr>
      <vt:lpstr>Visualizing RF</vt:lpstr>
      <vt:lpstr>Applications in AI</vt:lpstr>
      <vt:lpstr>Links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Tawanda Chiyangwa</cp:lastModifiedBy>
  <cp:revision>3</cp:revision>
  <dcterms:created xsi:type="dcterms:W3CDTF">2013-01-27T09:14:16Z</dcterms:created>
  <dcterms:modified xsi:type="dcterms:W3CDTF">2025-08-27T20:21:46Z</dcterms:modified>
  <cp:category/>
</cp:coreProperties>
</file>